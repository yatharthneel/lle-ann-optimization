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8" r:id="rId3"/>
    <p:sldId id="259" r:id="rId4"/>
    <p:sldId id="260" r:id="rId5"/>
    <p:sldId id="257" r:id="rId6"/>
    <p:sldId id="261" r:id="rId7"/>
    <p:sldId id="262" r:id="rId8"/>
    <p:sldId id="263" r:id="rId9"/>
    <p:sldId id="264" r:id="rId10"/>
    <p:sldId id="265" r:id="rId11"/>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1143000" y="685800"/>
            <a:ext cx="4572000" cy="3429000"/>
          </a:xfrm>
          <a:prstGeom prst="rect">
            <a:avLst/>
          </a:prstGeom>
        </p:spPr>
        <p:txBody>
          <a:bodyPr/>
          <a:lstStyle/>
          <a:p>
            <a:endParaRPr/>
          </a:p>
        </p:txBody>
      </p:sp>
      <p:sp>
        <p:nvSpPr>
          <p:cNvPr id="18" name="Shape 1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r>
              <a:t>Title Text</a:t>
            </a:r>
          </a:p>
        </p:txBody>
      </p:sp>
      <p:sp>
        <p:nvSpPr>
          <p:cNvPr id="3" name="Body Level One…"/>
          <p:cNvSpPr txBox="1">
            <a:spLocks noGrp="1"/>
          </p:cNvSpPr>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0" name="Shape 0"/>
          <p:cNvSpPr/>
          <p:nvPr/>
        </p:nvSpPr>
        <p:spPr>
          <a:xfrm>
            <a:off x="5943600" y="0"/>
            <a:ext cx="3200400" cy="5143500"/>
          </a:xfrm>
          <a:prstGeom prst="rect">
            <a:avLst/>
          </a:prstGeom>
          <a:solidFill>
            <a:srgbClr val="1F3A6E"/>
          </a:solidFill>
          <a:ln w="12700">
            <a:solidFill>
              <a:srgbClr val="1F3A6E"/>
            </a:solidFill>
          </a:ln>
        </p:spPr>
        <p:txBody>
          <a:bodyPr lIns="45719" rIns="45719"/>
          <a:lstStyle/>
          <a:p>
            <a:endParaRPr/>
          </a:p>
        </p:txBody>
      </p:sp>
      <p:sp>
        <p:nvSpPr>
          <p:cNvPr id="21" name="Shape 1"/>
          <p:cNvSpPr/>
          <p:nvPr/>
        </p:nvSpPr>
        <p:spPr>
          <a:xfrm>
            <a:off x="6053328" y="0"/>
            <a:ext cx="3090673" cy="5143500"/>
          </a:xfrm>
          <a:prstGeom prst="rect">
            <a:avLst/>
          </a:prstGeom>
          <a:solidFill>
            <a:srgbClr val="162954"/>
          </a:solidFill>
          <a:ln w="12700">
            <a:solidFill>
              <a:srgbClr val="162954"/>
            </a:solidFill>
          </a:ln>
        </p:spPr>
        <p:txBody>
          <a:bodyPr lIns="45719" rIns="45719"/>
          <a:lstStyle/>
          <a:p>
            <a:endParaRPr/>
          </a:p>
        </p:txBody>
      </p:sp>
      <p:sp>
        <p:nvSpPr>
          <p:cNvPr id="22" name="Shape 2"/>
          <p:cNvSpPr/>
          <p:nvPr/>
        </p:nvSpPr>
        <p:spPr>
          <a:xfrm>
            <a:off x="-1" y="4389120"/>
            <a:ext cx="6035042" cy="754381"/>
          </a:xfrm>
          <a:prstGeom prst="rect">
            <a:avLst/>
          </a:prstGeom>
          <a:solidFill>
            <a:srgbClr val="2E6DB4">
              <a:alpha val="15000"/>
            </a:srgbClr>
          </a:solidFill>
          <a:ln w="12700">
            <a:solidFill>
              <a:srgbClr val="2E6DB4">
                <a:alpha val="15000"/>
              </a:srgbClr>
            </a:solidFill>
          </a:ln>
        </p:spPr>
        <p:txBody>
          <a:bodyPr lIns="45719" rIns="45719"/>
          <a:lstStyle/>
          <a:p>
            <a:endParaRPr/>
          </a:p>
        </p:txBody>
      </p:sp>
      <p:sp>
        <p:nvSpPr>
          <p:cNvPr id="23" name="Shape 3"/>
          <p:cNvSpPr/>
          <p:nvPr/>
        </p:nvSpPr>
        <p:spPr>
          <a:xfrm>
            <a:off x="-1" y="0"/>
            <a:ext cx="6035042" cy="64008"/>
          </a:xfrm>
          <a:prstGeom prst="rect">
            <a:avLst/>
          </a:prstGeom>
          <a:solidFill>
            <a:srgbClr val="0D7377"/>
          </a:solidFill>
          <a:ln w="12700">
            <a:solidFill>
              <a:srgbClr val="0D7377"/>
            </a:solidFill>
          </a:ln>
        </p:spPr>
        <p:txBody>
          <a:bodyPr lIns="45719" rIns="45719"/>
          <a:lstStyle/>
          <a:p>
            <a:endParaRPr/>
          </a:p>
        </p:txBody>
      </p:sp>
      <p:sp>
        <p:nvSpPr>
          <p:cNvPr id="24" name="Shape 4"/>
          <p:cNvSpPr/>
          <p:nvPr/>
        </p:nvSpPr>
        <p:spPr>
          <a:xfrm>
            <a:off x="384047" y="201168"/>
            <a:ext cx="1737362" cy="274321"/>
          </a:xfrm>
          <a:prstGeom prst="roundRect">
            <a:avLst>
              <a:gd name="adj" fmla="val 20000"/>
            </a:avLst>
          </a:prstGeom>
          <a:solidFill>
            <a:srgbClr val="0D7377"/>
          </a:solidFill>
          <a:ln w="12700">
            <a:solidFill>
              <a:srgbClr val="0D7377"/>
            </a:solidFill>
          </a:ln>
        </p:spPr>
        <p:txBody>
          <a:bodyPr lIns="45719" rIns="45719"/>
          <a:lstStyle/>
          <a:p>
            <a:endParaRPr/>
          </a:p>
        </p:txBody>
      </p:sp>
      <p:sp>
        <p:nvSpPr>
          <p:cNvPr id="25" name="Text 5"/>
          <p:cNvSpPr txBox="1"/>
          <p:nvPr/>
        </p:nvSpPr>
        <p:spPr>
          <a:xfrm>
            <a:off x="429767" y="240319"/>
            <a:ext cx="1645922"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b="1">
                <a:solidFill>
                  <a:srgbClr val="FFFFFF"/>
                </a:solidFill>
              </a:defRPr>
            </a:lvl1pPr>
          </a:lstStyle>
          <a:p>
            <a:r>
              <a:t>AI MINOR COURSE</a:t>
            </a:r>
          </a:p>
        </p:txBody>
      </p:sp>
      <p:sp>
        <p:nvSpPr>
          <p:cNvPr id="26" name="Text 6"/>
          <p:cNvSpPr txBox="1"/>
          <p:nvPr/>
        </p:nvSpPr>
        <p:spPr>
          <a:xfrm>
            <a:off x="429767" y="864514"/>
            <a:ext cx="5212082" cy="1873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p>
            <a:pPr>
              <a:lnSpc>
                <a:spcPct val="110000"/>
              </a:lnSpc>
              <a:defRPr sz="3800" b="1">
                <a:solidFill>
                  <a:srgbClr val="FFFFFF"/>
                </a:solidFill>
              </a:defRPr>
            </a:pPr>
            <a:r>
              <a:t>Optimizing</a:t>
            </a:r>
          </a:p>
          <a:p>
            <a:pPr>
              <a:lnSpc>
                <a:spcPct val="110000"/>
              </a:lnSpc>
              <a:defRPr sz="3800" b="1">
                <a:solidFill>
                  <a:srgbClr val="FFFFFF"/>
                </a:solidFill>
              </a:defRPr>
            </a:pPr>
            <a:r>
              <a:t>Liquid-Liquid</a:t>
            </a:r>
          </a:p>
          <a:p>
            <a:pPr>
              <a:lnSpc>
                <a:spcPct val="110000"/>
              </a:lnSpc>
              <a:defRPr sz="3800" b="1">
                <a:solidFill>
                  <a:srgbClr val="FFFFFF"/>
                </a:solidFill>
              </a:defRPr>
            </a:pPr>
            <a:r>
              <a:t>Extraction</a:t>
            </a:r>
          </a:p>
        </p:txBody>
      </p:sp>
      <p:sp>
        <p:nvSpPr>
          <p:cNvPr id="27" name="Text 7"/>
          <p:cNvSpPr txBox="1"/>
          <p:nvPr/>
        </p:nvSpPr>
        <p:spPr>
          <a:xfrm>
            <a:off x="429767" y="3022671"/>
            <a:ext cx="5212082" cy="3005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600" i="1">
                <a:solidFill>
                  <a:srgbClr val="A8C4E8"/>
                </a:solidFill>
              </a:defRPr>
            </a:lvl1pPr>
          </a:lstStyle>
          <a:p>
            <a:r>
              <a:t>Using Artificial Neural Networks (ANN)</a:t>
            </a:r>
          </a:p>
        </p:txBody>
      </p:sp>
      <p:sp>
        <p:nvSpPr>
          <p:cNvPr id="28" name="Shape 8"/>
          <p:cNvSpPr/>
          <p:nvPr/>
        </p:nvSpPr>
        <p:spPr>
          <a:xfrm>
            <a:off x="384047" y="3493008"/>
            <a:ext cx="5029202" cy="1"/>
          </a:xfrm>
          <a:prstGeom prst="line">
            <a:avLst/>
          </a:prstGeom>
          <a:ln w="12700">
            <a:solidFill>
              <a:srgbClr val="0D7377"/>
            </a:solidFill>
          </a:ln>
        </p:spPr>
        <p:txBody>
          <a:bodyPr lIns="45719" rIns="45719"/>
          <a:lstStyle/>
          <a:p>
            <a:endParaRPr/>
          </a:p>
        </p:txBody>
      </p:sp>
      <p:sp>
        <p:nvSpPr>
          <p:cNvPr id="29" name="Text 9"/>
          <p:cNvSpPr txBox="1"/>
          <p:nvPr/>
        </p:nvSpPr>
        <p:spPr>
          <a:xfrm>
            <a:off x="6355079" y="496351"/>
            <a:ext cx="2468881"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b="1" spc="300">
                <a:solidFill>
                  <a:srgbClr val="7A9CC8"/>
                </a:solidFill>
              </a:defRPr>
            </a:lvl1pPr>
          </a:lstStyle>
          <a:p>
            <a:r>
              <a:t>PRESENTED BY</a:t>
            </a:r>
          </a:p>
        </p:txBody>
      </p:sp>
      <p:sp>
        <p:nvSpPr>
          <p:cNvPr id="30" name="Shape 10"/>
          <p:cNvSpPr/>
          <p:nvPr/>
        </p:nvSpPr>
        <p:spPr>
          <a:xfrm>
            <a:off x="6629399" y="1005839"/>
            <a:ext cx="548642" cy="548641"/>
          </a:xfrm>
          <a:prstGeom prst="ellipse">
            <a:avLst/>
          </a:prstGeom>
          <a:solidFill>
            <a:srgbClr val="2E6DB4"/>
          </a:solidFill>
          <a:ln w="12700">
            <a:solidFill>
              <a:srgbClr val="D6E4F7"/>
            </a:solidFill>
          </a:ln>
        </p:spPr>
        <p:txBody>
          <a:bodyPr lIns="45719" rIns="45719"/>
          <a:lstStyle/>
          <a:p>
            <a:endParaRPr/>
          </a:p>
        </p:txBody>
      </p:sp>
      <p:sp>
        <p:nvSpPr>
          <p:cNvPr id="31" name="Text 11"/>
          <p:cNvSpPr txBox="1"/>
          <p:nvPr/>
        </p:nvSpPr>
        <p:spPr>
          <a:xfrm>
            <a:off x="6675119" y="1129863"/>
            <a:ext cx="457202" cy="3005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600" b="1">
                <a:solidFill>
                  <a:srgbClr val="FFFFFF"/>
                </a:solidFill>
              </a:defRPr>
            </a:lvl1pPr>
          </a:lstStyle>
          <a:p>
            <a:r>
              <a:t>A</a:t>
            </a:r>
          </a:p>
        </p:txBody>
      </p:sp>
      <p:sp>
        <p:nvSpPr>
          <p:cNvPr id="32" name="Text 12"/>
          <p:cNvSpPr txBox="1"/>
          <p:nvPr/>
        </p:nvSpPr>
        <p:spPr>
          <a:xfrm>
            <a:off x="7315200" y="1023043"/>
            <a:ext cx="1554481" cy="2582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300" b="1">
                <a:solidFill>
                  <a:srgbClr val="FFFFFF"/>
                </a:solidFill>
              </a:defRPr>
            </a:lvl1pPr>
          </a:lstStyle>
          <a:p>
            <a:r>
              <a:t>Aditya</a:t>
            </a:r>
          </a:p>
        </p:txBody>
      </p:sp>
      <p:sp>
        <p:nvSpPr>
          <p:cNvPr id="33" name="Text 13"/>
          <p:cNvSpPr txBox="1"/>
          <p:nvPr/>
        </p:nvSpPr>
        <p:spPr>
          <a:xfrm>
            <a:off x="7315200" y="1277787"/>
            <a:ext cx="1554481"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7A9CC8"/>
                </a:solidFill>
              </a:defRPr>
            </a:lvl1pPr>
          </a:lstStyle>
          <a:p>
            <a:r>
              <a:t>U24CH043</a:t>
            </a:r>
          </a:p>
        </p:txBody>
      </p:sp>
      <p:sp>
        <p:nvSpPr>
          <p:cNvPr id="34" name="Shape 14"/>
          <p:cNvSpPr/>
          <p:nvPr/>
        </p:nvSpPr>
        <p:spPr>
          <a:xfrm>
            <a:off x="6629399" y="2011679"/>
            <a:ext cx="548642" cy="548641"/>
          </a:xfrm>
          <a:prstGeom prst="ellipse">
            <a:avLst/>
          </a:prstGeom>
          <a:solidFill>
            <a:srgbClr val="2E6DB4"/>
          </a:solidFill>
          <a:ln w="12700">
            <a:solidFill>
              <a:srgbClr val="D6E4F7"/>
            </a:solidFill>
          </a:ln>
        </p:spPr>
        <p:txBody>
          <a:bodyPr lIns="45719" rIns="45719"/>
          <a:lstStyle/>
          <a:p>
            <a:endParaRPr/>
          </a:p>
        </p:txBody>
      </p:sp>
      <p:sp>
        <p:nvSpPr>
          <p:cNvPr id="35" name="Text 15"/>
          <p:cNvSpPr txBox="1"/>
          <p:nvPr/>
        </p:nvSpPr>
        <p:spPr>
          <a:xfrm>
            <a:off x="6675119" y="2135703"/>
            <a:ext cx="457202" cy="3005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600" b="1">
                <a:solidFill>
                  <a:srgbClr val="FFFFFF"/>
                </a:solidFill>
              </a:defRPr>
            </a:lvl1pPr>
          </a:lstStyle>
          <a:p>
            <a:r>
              <a:t>Y</a:t>
            </a:r>
          </a:p>
        </p:txBody>
      </p:sp>
      <p:sp>
        <p:nvSpPr>
          <p:cNvPr id="36" name="Text 16"/>
          <p:cNvSpPr txBox="1"/>
          <p:nvPr/>
        </p:nvSpPr>
        <p:spPr>
          <a:xfrm>
            <a:off x="7315200" y="2028882"/>
            <a:ext cx="1554481" cy="2582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300" b="1">
                <a:solidFill>
                  <a:srgbClr val="FFFFFF"/>
                </a:solidFill>
              </a:defRPr>
            </a:lvl1pPr>
          </a:lstStyle>
          <a:p>
            <a:r>
              <a:t>Yatharth</a:t>
            </a:r>
          </a:p>
        </p:txBody>
      </p:sp>
      <p:sp>
        <p:nvSpPr>
          <p:cNvPr id="37" name="Text 17"/>
          <p:cNvSpPr txBox="1"/>
          <p:nvPr/>
        </p:nvSpPr>
        <p:spPr>
          <a:xfrm>
            <a:off x="7315200" y="2283627"/>
            <a:ext cx="1554481"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7A9CC8"/>
                </a:solidFill>
              </a:defRPr>
            </a:lvl1pPr>
          </a:lstStyle>
          <a:p>
            <a:r>
              <a:t>U24CH045</a:t>
            </a:r>
          </a:p>
        </p:txBody>
      </p:sp>
      <p:sp>
        <p:nvSpPr>
          <p:cNvPr id="38" name="Shape 18"/>
          <p:cNvSpPr/>
          <p:nvPr/>
        </p:nvSpPr>
        <p:spPr>
          <a:xfrm>
            <a:off x="6629399" y="3017520"/>
            <a:ext cx="548642" cy="548641"/>
          </a:xfrm>
          <a:prstGeom prst="ellipse">
            <a:avLst/>
          </a:prstGeom>
          <a:solidFill>
            <a:srgbClr val="2E6DB4"/>
          </a:solidFill>
          <a:ln w="12700">
            <a:solidFill>
              <a:srgbClr val="D6E4F7"/>
            </a:solidFill>
          </a:ln>
        </p:spPr>
        <p:txBody>
          <a:bodyPr lIns="45719" rIns="45719"/>
          <a:lstStyle/>
          <a:p>
            <a:endParaRPr/>
          </a:p>
        </p:txBody>
      </p:sp>
      <p:sp>
        <p:nvSpPr>
          <p:cNvPr id="39" name="Text 19"/>
          <p:cNvSpPr txBox="1"/>
          <p:nvPr/>
        </p:nvSpPr>
        <p:spPr>
          <a:xfrm>
            <a:off x="6675119" y="3141543"/>
            <a:ext cx="457202" cy="3005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600" b="1">
                <a:solidFill>
                  <a:srgbClr val="FFFFFF"/>
                </a:solidFill>
              </a:defRPr>
            </a:lvl1pPr>
          </a:lstStyle>
          <a:p>
            <a:r>
              <a:t>A</a:t>
            </a:r>
          </a:p>
        </p:txBody>
      </p:sp>
      <p:sp>
        <p:nvSpPr>
          <p:cNvPr id="40" name="Text 20"/>
          <p:cNvSpPr txBox="1"/>
          <p:nvPr/>
        </p:nvSpPr>
        <p:spPr>
          <a:xfrm>
            <a:off x="7315200" y="3034722"/>
            <a:ext cx="1554481" cy="2582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300" b="1">
                <a:solidFill>
                  <a:srgbClr val="FFFFFF"/>
                </a:solidFill>
              </a:defRPr>
            </a:lvl1pPr>
          </a:lstStyle>
          <a:p>
            <a:r>
              <a:t>Aryan</a:t>
            </a:r>
          </a:p>
        </p:txBody>
      </p:sp>
      <p:sp>
        <p:nvSpPr>
          <p:cNvPr id="41" name="Text 21"/>
          <p:cNvSpPr txBox="1"/>
          <p:nvPr/>
        </p:nvSpPr>
        <p:spPr>
          <a:xfrm>
            <a:off x="7315200" y="3289467"/>
            <a:ext cx="1554481"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7A9CC8"/>
                </a:solidFill>
              </a:defRPr>
            </a:lvl1pPr>
          </a:lstStyle>
          <a:p>
            <a:r>
              <a:t>U24CH069</a:t>
            </a:r>
          </a:p>
        </p:txBody>
      </p:sp>
      <p:sp>
        <p:nvSpPr>
          <p:cNvPr id="42" name="Text 22"/>
          <p:cNvSpPr txBox="1"/>
          <p:nvPr/>
        </p:nvSpPr>
        <p:spPr>
          <a:xfrm>
            <a:off x="429767" y="3672762"/>
            <a:ext cx="5212082" cy="225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a:solidFill>
                  <a:srgbClr val="7A9CC8"/>
                </a:solidFill>
              </a:defRPr>
            </a:lvl1pPr>
          </a:lstStyle>
          <a:p>
            <a:r>
              <a:t>Department of Chemical Engineering</a:t>
            </a:r>
          </a:p>
        </p:txBody>
      </p:sp>
      <p:sp>
        <p:nvSpPr>
          <p:cNvPr id="43" name="Text 23"/>
          <p:cNvSpPr txBox="1"/>
          <p:nvPr/>
        </p:nvSpPr>
        <p:spPr>
          <a:xfrm>
            <a:off x="429767" y="3909104"/>
            <a:ext cx="5212082"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a:solidFill>
                  <a:srgbClr val="5A7CB8"/>
                </a:solidFill>
              </a:defRPr>
            </a:lvl1pPr>
          </a:lstStyle>
          <a:p>
            <a:r>
              <a:t>Academic Year 2025–2026</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Shape 0"/>
          <p:cNvSpPr/>
          <p:nvPr/>
        </p:nvSpPr>
        <p:spPr>
          <a:xfrm>
            <a:off x="0" y="0"/>
            <a:ext cx="9144000" cy="64008"/>
          </a:xfrm>
          <a:prstGeom prst="rect">
            <a:avLst/>
          </a:prstGeom>
          <a:solidFill>
            <a:srgbClr val="1F3A6E"/>
          </a:solidFill>
          <a:ln w="12700">
            <a:solidFill>
              <a:srgbClr val="1F3A6E"/>
            </a:solidFill>
          </a:ln>
        </p:spPr>
        <p:txBody>
          <a:bodyPr lIns="45719" rIns="45719"/>
          <a:lstStyle/>
          <a:p>
            <a:endParaRPr/>
          </a:p>
        </p:txBody>
      </p:sp>
      <p:sp>
        <p:nvSpPr>
          <p:cNvPr id="55" name="Shape 1"/>
          <p:cNvSpPr/>
          <p:nvPr/>
        </p:nvSpPr>
        <p:spPr>
          <a:xfrm>
            <a:off x="0" y="5074920"/>
            <a:ext cx="9144000" cy="68581"/>
          </a:xfrm>
          <a:prstGeom prst="rect">
            <a:avLst/>
          </a:prstGeom>
          <a:solidFill>
            <a:srgbClr val="1F3A6E"/>
          </a:solidFill>
          <a:ln w="12700">
            <a:solidFill>
              <a:srgbClr val="1F3A6E"/>
            </a:solidFill>
          </a:ln>
        </p:spPr>
        <p:txBody>
          <a:bodyPr lIns="45719" rIns="45719"/>
          <a:lstStyle/>
          <a:p>
            <a:endParaRPr/>
          </a:p>
        </p:txBody>
      </p:sp>
      <p:sp>
        <p:nvSpPr>
          <p:cNvPr id="56" name="Text 2"/>
          <p:cNvSpPr txBox="1"/>
          <p:nvPr/>
        </p:nvSpPr>
        <p:spPr>
          <a:xfrm>
            <a:off x="45719" y="4894616"/>
            <a:ext cx="9052561" cy="1960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a:solidFill>
                  <a:srgbClr val="8A9BBB"/>
                </a:solidFill>
              </a:defRPr>
            </a:lvl1pPr>
          </a:lstStyle>
          <a:p>
            <a:r>
              <a:t>AI Minor Course  |  Department of Chemical Engineering  |  2025–2026</a:t>
            </a:r>
          </a:p>
        </p:txBody>
      </p:sp>
      <p:sp>
        <p:nvSpPr>
          <p:cNvPr id="57" name="Shape 3"/>
          <p:cNvSpPr/>
          <p:nvPr/>
        </p:nvSpPr>
        <p:spPr>
          <a:xfrm>
            <a:off x="384047" y="164592"/>
            <a:ext cx="969265" cy="256032"/>
          </a:xfrm>
          <a:prstGeom prst="roundRect">
            <a:avLst>
              <a:gd name="adj" fmla="val 21429"/>
            </a:avLst>
          </a:prstGeom>
          <a:solidFill>
            <a:srgbClr val="D6E4F7"/>
          </a:solidFill>
          <a:ln w="12700">
            <a:solidFill>
              <a:srgbClr val="2E6DB4"/>
            </a:solidFill>
          </a:ln>
        </p:spPr>
        <p:txBody>
          <a:bodyPr lIns="45719" rIns="45719"/>
          <a:lstStyle/>
          <a:p>
            <a:endParaRPr/>
          </a:p>
        </p:txBody>
      </p:sp>
      <p:sp>
        <p:nvSpPr>
          <p:cNvPr id="58" name="Text 4"/>
          <p:cNvSpPr txBox="1"/>
          <p:nvPr/>
        </p:nvSpPr>
        <p:spPr>
          <a:xfrm>
            <a:off x="429768" y="194599"/>
            <a:ext cx="877825"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b="1">
                <a:solidFill>
                  <a:srgbClr val="2E6DB4"/>
                </a:solidFill>
              </a:defRPr>
            </a:lvl1pPr>
          </a:lstStyle>
          <a:p>
            <a:r>
              <a:t>OVERVIEW</a:t>
            </a:r>
          </a:p>
        </p:txBody>
      </p:sp>
      <p:sp>
        <p:nvSpPr>
          <p:cNvPr id="59" name="Text 5"/>
          <p:cNvSpPr txBox="1"/>
          <p:nvPr/>
        </p:nvSpPr>
        <p:spPr>
          <a:xfrm>
            <a:off x="384047" y="690996"/>
            <a:ext cx="8375906" cy="3462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600" b="1">
                <a:solidFill>
                  <a:srgbClr val="1F3A6E"/>
                </a:solidFill>
              </a:defRPr>
            </a:lvl1pPr>
          </a:lstStyle>
          <a:p>
            <a:r>
              <a:t>Presentation Agenda</a:t>
            </a:r>
          </a:p>
        </p:txBody>
      </p:sp>
      <p:sp>
        <p:nvSpPr>
          <p:cNvPr id="60" name="Shape 6"/>
          <p:cNvSpPr/>
          <p:nvPr/>
        </p:nvSpPr>
        <p:spPr>
          <a:xfrm>
            <a:off x="384047" y="1417319"/>
            <a:ext cx="4206242" cy="749809"/>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61" name="Shape 7"/>
          <p:cNvSpPr/>
          <p:nvPr/>
        </p:nvSpPr>
        <p:spPr>
          <a:xfrm>
            <a:off x="384047" y="1417319"/>
            <a:ext cx="54865" cy="749809"/>
          </a:xfrm>
          <a:prstGeom prst="rect">
            <a:avLst/>
          </a:prstGeom>
          <a:solidFill>
            <a:srgbClr val="1F3A6E"/>
          </a:solidFill>
          <a:ln w="12700">
            <a:solidFill>
              <a:srgbClr val="1F3A6E"/>
            </a:solidFill>
          </a:ln>
        </p:spPr>
        <p:txBody>
          <a:bodyPr lIns="45719" rIns="45719"/>
          <a:lstStyle/>
          <a:p>
            <a:endParaRPr/>
          </a:p>
        </p:txBody>
      </p:sp>
      <p:sp>
        <p:nvSpPr>
          <p:cNvPr id="62" name="Text 8"/>
          <p:cNvSpPr txBox="1"/>
          <p:nvPr/>
        </p:nvSpPr>
        <p:spPr>
          <a:xfrm>
            <a:off x="594359" y="1496376"/>
            <a:ext cx="320041" cy="280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400" b="1">
                <a:solidFill>
                  <a:srgbClr val="1F3A6E"/>
                </a:solidFill>
              </a:defRPr>
            </a:lvl1pPr>
          </a:lstStyle>
          <a:p>
            <a:r>
              <a:t>01</a:t>
            </a:r>
          </a:p>
        </p:txBody>
      </p:sp>
      <p:sp>
        <p:nvSpPr>
          <p:cNvPr id="63" name="Text 9"/>
          <p:cNvSpPr txBox="1"/>
          <p:nvPr/>
        </p:nvSpPr>
        <p:spPr>
          <a:xfrm>
            <a:off x="1024128" y="1496490"/>
            <a:ext cx="3291840" cy="225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b="1">
                <a:solidFill>
                  <a:srgbClr val="1F3A6E"/>
                </a:solidFill>
              </a:defRPr>
            </a:lvl1pPr>
          </a:lstStyle>
          <a:p>
            <a:r>
              <a:t>Introduction to LLE</a:t>
            </a:r>
          </a:p>
        </p:txBody>
      </p:sp>
      <p:sp>
        <p:nvSpPr>
          <p:cNvPr id="64" name="Text 10"/>
          <p:cNvSpPr txBox="1"/>
          <p:nvPr/>
        </p:nvSpPr>
        <p:spPr>
          <a:xfrm>
            <a:off x="1024128" y="1822231"/>
            <a:ext cx="3291840"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What is liquid-liquid extraction and why optimize it?</a:t>
            </a:r>
          </a:p>
        </p:txBody>
      </p:sp>
      <p:sp>
        <p:nvSpPr>
          <p:cNvPr id="65" name="Shape 11"/>
          <p:cNvSpPr/>
          <p:nvPr/>
        </p:nvSpPr>
        <p:spPr>
          <a:xfrm>
            <a:off x="384047" y="2267711"/>
            <a:ext cx="4206242" cy="749809"/>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66" name="Shape 12"/>
          <p:cNvSpPr/>
          <p:nvPr/>
        </p:nvSpPr>
        <p:spPr>
          <a:xfrm>
            <a:off x="384047" y="2267711"/>
            <a:ext cx="54865" cy="749809"/>
          </a:xfrm>
          <a:prstGeom prst="rect">
            <a:avLst/>
          </a:prstGeom>
          <a:solidFill>
            <a:srgbClr val="1F3A6E"/>
          </a:solidFill>
          <a:ln w="12700">
            <a:solidFill>
              <a:srgbClr val="1F3A6E"/>
            </a:solidFill>
          </a:ln>
        </p:spPr>
        <p:txBody>
          <a:bodyPr lIns="45719" rIns="45719"/>
          <a:lstStyle/>
          <a:p>
            <a:endParaRPr/>
          </a:p>
        </p:txBody>
      </p:sp>
      <p:sp>
        <p:nvSpPr>
          <p:cNvPr id="67" name="Text 13"/>
          <p:cNvSpPr txBox="1"/>
          <p:nvPr/>
        </p:nvSpPr>
        <p:spPr>
          <a:xfrm>
            <a:off x="594359" y="2346768"/>
            <a:ext cx="320041" cy="280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400" b="1">
                <a:solidFill>
                  <a:srgbClr val="1F3A6E"/>
                </a:solidFill>
              </a:defRPr>
            </a:lvl1pPr>
          </a:lstStyle>
          <a:p>
            <a:r>
              <a:t>02</a:t>
            </a:r>
          </a:p>
        </p:txBody>
      </p:sp>
      <p:sp>
        <p:nvSpPr>
          <p:cNvPr id="68" name="Text 14"/>
          <p:cNvSpPr txBox="1"/>
          <p:nvPr/>
        </p:nvSpPr>
        <p:spPr>
          <a:xfrm>
            <a:off x="1024128" y="2346882"/>
            <a:ext cx="3291840" cy="225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b="1">
                <a:solidFill>
                  <a:srgbClr val="1F3A6E"/>
                </a:solidFill>
              </a:defRPr>
            </a:lvl1pPr>
          </a:lstStyle>
          <a:p>
            <a:r>
              <a:t>Artificial Neural Networks</a:t>
            </a:r>
          </a:p>
        </p:txBody>
      </p:sp>
      <p:sp>
        <p:nvSpPr>
          <p:cNvPr id="69" name="Text 15"/>
          <p:cNvSpPr txBox="1"/>
          <p:nvPr/>
        </p:nvSpPr>
        <p:spPr>
          <a:xfrm>
            <a:off x="1024128" y="2672623"/>
            <a:ext cx="3291840"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Structure, training, and how ANN works</a:t>
            </a:r>
          </a:p>
        </p:txBody>
      </p:sp>
      <p:sp>
        <p:nvSpPr>
          <p:cNvPr id="70" name="Shape 16"/>
          <p:cNvSpPr/>
          <p:nvPr/>
        </p:nvSpPr>
        <p:spPr>
          <a:xfrm>
            <a:off x="384047" y="3118104"/>
            <a:ext cx="4206242" cy="749809"/>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71" name="Shape 17"/>
          <p:cNvSpPr/>
          <p:nvPr/>
        </p:nvSpPr>
        <p:spPr>
          <a:xfrm>
            <a:off x="384047" y="3118104"/>
            <a:ext cx="54865" cy="749809"/>
          </a:xfrm>
          <a:prstGeom prst="rect">
            <a:avLst/>
          </a:prstGeom>
          <a:solidFill>
            <a:srgbClr val="1F3A6E"/>
          </a:solidFill>
          <a:ln w="12700">
            <a:solidFill>
              <a:srgbClr val="1F3A6E"/>
            </a:solidFill>
          </a:ln>
        </p:spPr>
        <p:txBody>
          <a:bodyPr lIns="45719" rIns="45719"/>
          <a:lstStyle/>
          <a:p>
            <a:endParaRPr/>
          </a:p>
        </p:txBody>
      </p:sp>
      <p:sp>
        <p:nvSpPr>
          <p:cNvPr id="72" name="Text 18"/>
          <p:cNvSpPr txBox="1"/>
          <p:nvPr/>
        </p:nvSpPr>
        <p:spPr>
          <a:xfrm>
            <a:off x="594359" y="3197160"/>
            <a:ext cx="320041" cy="280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400" b="1">
                <a:solidFill>
                  <a:srgbClr val="1F3A6E"/>
                </a:solidFill>
              </a:defRPr>
            </a:lvl1pPr>
          </a:lstStyle>
          <a:p>
            <a:r>
              <a:t>03</a:t>
            </a:r>
          </a:p>
        </p:txBody>
      </p:sp>
      <p:sp>
        <p:nvSpPr>
          <p:cNvPr id="73" name="Text 19"/>
          <p:cNvSpPr txBox="1"/>
          <p:nvPr/>
        </p:nvSpPr>
        <p:spPr>
          <a:xfrm>
            <a:off x="1024128" y="3197273"/>
            <a:ext cx="3291840" cy="2257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b="1">
                <a:solidFill>
                  <a:srgbClr val="1F3A6E"/>
                </a:solidFill>
              </a:defRPr>
            </a:lvl1pPr>
          </a:lstStyle>
          <a:p>
            <a:r>
              <a:t>Case Study</a:t>
            </a:r>
          </a:p>
        </p:txBody>
      </p:sp>
      <p:sp>
        <p:nvSpPr>
          <p:cNvPr id="74" name="Text 20"/>
          <p:cNvSpPr txBox="1"/>
          <p:nvPr/>
        </p:nvSpPr>
        <p:spPr>
          <a:xfrm>
            <a:off x="1024128" y="3523015"/>
            <a:ext cx="3291840"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Reactive extraction of itaconic acid using TOA &amp; DCM</a:t>
            </a:r>
          </a:p>
        </p:txBody>
      </p:sp>
      <p:sp>
        <p:nvSpPr>
          <p:cNvPr id="75" name="Shape 21"/>
          <p:cNvSpPr/>
          <p:nvPr/>
        </p:nvSpPr>
        <p:spPr>
          <a:xfrm>
            <a:off x="384047" y="3968496"/>
            <a:ext cx="4206242" cy="749809"/>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76" name="Shape 22"/>
          <p:cNvSpPr/>
          <p:nvPr/>
        </p:nvSpPr>
        <p:spPr>
          <a:xfrm>
            <a:off x="384047" y="3968496"/>
            <a:ext cx="54865" cy="749809"/>
          </a:xfrm>
          <a:prstGeom prst="rect">
            <a:avLst/>
          </a:prstGeom>
          <a:solidFill>
            <a:srgbClr val="1F3A6E"/>
          </a:solidFill>
          <a:ln w="12700">
            <a:solidFill>
              <a:srgbClr val="1F3A6E"/>
            </a:solidFill>
          </a:ln>
        </p:spPr>
        <p:txBody>
          <a:bodyPr lIns="45719" rIns="45719"/>
          <a:lstStyle/>
          <a:p>
            <a:endParaRPr/>
          </a:p>
        </p:txBody>
      </p:sp>
      <p:sp>
        <p:nvSpPr>
          <p:cNvPr id="77" name="Text 23"/>
          <p:cNvSpPr txBox="1"/>
          <p:nvPr/>
        </p:nvSpPr>
        <p:spPr>
          <a:xfrm>
            <a:off x="594359" y="4047552"/>
            <a:ext cx="320041" cy="280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400" b="1">
                <a:solidFill>
                  <a:srgbClr val="1F3A6E"/>
                </a:solidFill>
              </a:defRPr>
            </a:lvl1pPr>
          </a:lstStyle>
          <a:p>
            <a:r>
              <a:t>04</a:t>
            </a:r>
          </a:p>
        </p:txBody>
      </p:sp>
      <p:sp>
        <p:nvSpPr>
          <p:cNvPr id="78" name="Text 24"/>
          <p:cNvSpPr txBox="1"/>
          <p:nvPr/>
        </p:nvSpPr>
        <p:spPr>
          <a:xfrm>
            <a:off x="1024128" y="4047665"/>
            <a:ext cx="3291840" cy="2257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b="1">
                <a:solidFill>
                  <a:srgbClr val="1F3A6E"/>
                </a:solidFill>
              </a:defRPr>
            </a:lvl1pPr>
          </a:lstStyle>
          <a:p>
            <a:r>
              <a:t>ANN Pipeline &amp; Results</a:t>
            </a:r>
          </a:p>
        </p:txBody>
      </p:sp>
      <p:sp>
        <p:nvSpPr>
          <p:cNvPr id="79" name="Text 25"/>
          <p:cNvSpPr txBox="1"/>
          <p:nvPr/>
        </p:nvSpPr>
        <p:spPr>
          <a:xfrm>
            <a:off x="1024128" y="4373407"/>
            <a:ext cx="3291840"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1,200 data points, R² = 0.9875, optimal conditions</a:t>
            </a:r>
          </a:p>
        </p:txBody>
      </p:sp>
      <p:sp>
        <p:nvSpPr>
          <p:cNvPr id="80" name="Shape 26"/>
          <p:cNvSpPr/>
          <p:nvPr/>
        </p:nvSpPr>
        <p:spPr>
          <a:xfrm>
            <a:off x="4864608" y="1417319"/>
            <a:ext cx="4206241" cy="749809"/>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81" name="Shape 27"/>
          <p:cNvSpPr/>
          <p:nvPr/>
        </p:nvSpPr>
        <p:spPr>
          <a:xfrm>
            <a:off x="4864608" y="1417319"/>
            <a:ext cx="54865" cy="749809"/>
          </a:xfrm>
          <a:prstGeom prst="rect">
            <a:avLst/>
          </a:prstGeom>
          <a:solidFill>
            <a:srgbClr val="0D7377"/>
          </a:solidFill>
          <a:ln w="12700">
            <a:solidFill>
              <a:srgbClr val="0D7377"/>
            </a:solidFill>
          </a:ln>
        </p:spPr>
        <p:txBody>
          <a:bodyPr lIns="45719" rIns="45719"/>
          <a:lstStyle/>
          <a:p>
            <a:endParaRPr/>
          </a:p>
        </p:txBody>
      </p:sp>
      <p:sp>
        <p:nvSpPr>
          <p:cNvPr id="82" name="Text 28"/>
          <p:cNvSpPr txBox="1"/>
          <p:nvPr/>
        </p:nvSpPr>
        <p:spPr>
          <a:xfrm>
            <a:off x="5074920" y="1496376"/>
            <a:ext cx="320041" cy="280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400" b="1">
                <a:solidFill>
                  <a:srgbClr val="0D7377"/>
                </a:solidFill>
              </a:defRPr>
            </a:lvl1pPr>
          </a:lstStyle>
          <a:p>
            <a:r>
              <a:t>05</a:t>
            </a:r>
          </a:p>
        </p:txBody>
      </p:sp>
      <p:sp>
        <p:nvSpPr>
          <p:cNvPr id="83" name="Text 29"/>
          <p:cNvSpPr txBox="1"/>
          <p:nvPr/>
        </p:nvSpPr>
        <p:spPr>
          <a:xfrm>
            <a:off x="5504688" y="1496490"/>
            <a:ext cx="3291840" cy="225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b="1">
                <a:solidFill>
                  <a:srgbClr val="1F3A6E"/>
                </a:solidFill>
              </a:defRPr>
            </a:lvl1pPr>
          </a:lstStyle>
          <a:p>
            <a:r>
              <a:t>Sensitivity Analysis</a:t>
            </a:r>
          </a:p>
        </p:txBody>
      </p:sp>
      <p:sp>
        <p:nvSpPr>
          <p:cNvPr id="84" name="Text 30"/>
          <p:cNvSpPr txBox="1"/>
          <p:nvPr/>
        </p:nvSpPr>
        <p:spPr>
          <a:xfrm>
            <a:off x="5504688" y="1822231"/>
            <a:ext cx="3291840"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Which variables matter most?</a:t>
            </a:r>
          </a:p>
        </p:txBody>
      </p:sp>
      <p:sp>
        <p:nvSpPr>
          <p:cNvPr id="85" name="Shape 31"/>
          <p:cNvSpPr/>
          <p:nvPr/>
        </p:nvSpPr>
        <p:spPr>
          <a:xfrm>
            <a:off x="4864608" y="2267711"/>
            <a:ext cx="4206241" cy="749809"/>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86" name="Shape 32"/>
          <p:cNvSpPr/>
          <p:nvPr/>
        </p:nvSpPr>
        <p:spPr>
          <a:xfrm>
            <a:off x="4864608" y="2267711"/>
            <a:ext cx="54865" cy="749809"/>
          </a:xfrm>
          <a:prstGeom prst="rect">
            <a:avLst/>
          </a:prstGeom>
          <a:solidFill>
            <a:srgbClr val="0D7377"/>
          </a:solidFill>
          <a:ln w="12700">
            <a:solidFill>
              <a:srgbClr val="0D7377"/>
            </a:solidFill>
          </a:ln>
        </p:spPr>
        <p:txBody>
          <a:bodyPr lIns="45719" rIns="45719"/>
          <a:lstStyle/>
          <a:p>
            <a:endParaRPr/>
          </a:p>
        </p:txBody>
      </p:sp>
      <p:sp>
        <p:nvSpPr>
          <p:cNvPr id="87" name="Text 33"/>
          <p:cNvSpPr txBox="1"/>
          <p:nvPr/>
        </p:nvSpPr>
        <p:spPr>
          <a:xfrm>
            <a:off x="5074920" y="2346768"/>
            <a:ext cx="320041" cy="280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400" b="1">
                <a:solidFill>
                  <a:srgbClr val="0D7377"/>
                </a:solidFill>
              </a:defRPr>
            </a:lvl1pPr>
          </a:lstStyle>
          <a:p>
            <a:r>
              <a:t>06</a:t>
            </a:r>
          </a:p>
        </p:txBody>
      </p:sp>
      <p:sp>
        <p:nvSpPr>
          <p:cNvPr id="88" name="Text 34"/>
          <p:cNvSpPr txBox="1"/>
          <p:nvPr/>
        </p:nvSpPr>
        <p:spPr>
          <a:xfrm>
            <a:off x="5504688" y="2346882"/>
            <a:ext cx="3291840" cy="225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b="1">
                <a:solidFill>
                  <a:srgbClr val="1F3A6E"/>
                </a:solidFill>
              </a:defRPr>
            </a:lvl1pPr>
          </a:lstStyle>
          <a:p>
            <a:r>
              <a:t>Advantages &amp; Limitations</a:t>
            </a:r>
          </a:p>
        </p:txBody>
      </p:sp>
      <p:sp>
        <p:nvSpPr>
          <p:cNvPr id="89" name="Text 35"/>
          <p:cNvSpPr txBox="1"/>
          <p:nvPr/>
        </p:nvSpPr>
        <p:spPr>
          <a:xfrm>
            <a:off x="5504688" y="2672623"/>
            <a:ext cx="3291840"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What ANN does well and where it falls short</a:t>
            </a:r>
          </a:p>
        </p:txBody>
      </p:sp>
      <p:sp>
        <p:nvSpPr>
          <p:cNvPr id="90" name="Shape 36"/>
          <p:cNvSpPr/>
          <p:nvPr/>
        </p:nvSpPr>
        <p:spPr>
          <a:xfrm>
            <a:off x="4864608" y="3118104"/>
            <a:ext cx="4206241" cy="749809"/>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91" name="Shape 37"/>
          <p:cNvSpPr/>
          <p:nvPr/>
        </p:nvSpPr>
        <p:spPr>
          <a:xfrm>
            <a:off x="4864608" y="3118104"/>
            <a:ext cx="54865" cy="749809"/>
          </a:xfrm>
          <a:prstGeom prst="rect">
            <a:avLst/>
          </a:prstGeom>
          <a:solidFill>
            <a:srgbClr val="0D7377"/>
          </a:solidFill>
          <a:ln w="12700">
            <a:solidFill>
              <a:srgbClr val="0D7377"/>
            </a:solidFill>
          </a:ln>
        </p:spPr>
        <p:txBody>
          <a:bodyPr lIns="45719" rIns="45719"/>
          <a:lstStyle/>
          <a:p>
            <a:endParaRPr/>
          </a:p>
        </p:txBody>
      </p:sp>
      <p:sp>
        <p:nvSpPr>
          <p:cNvPr id="92" name="Text 38"/>
          <p:cNvSpPr txBox="1"/>
          <p:nvPr/>
        </p:nvSpPr>
        <p:spPr>
          <a:xfrm>
            <a:off x="5074920" y="3197160"/>
            <a:ext cx="320041" cy="280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400" b="1">
                <a:solidFill>
                  <a:srgbClr val="0D7377"/>
                </a:solidFill>
              </a:defRPr>
            </a:lvl1pPr>
          </a:lstStyle>
          <a:p>
            <a:r>
              <a:t>07</a:t>
            </a:r>
          </a:p>
        </p:txBody>
      </p:sp>
      <p:sp>
        <p:nvSpPr>
          <p:cNvPr id="93" name="Text 39"/>
          <p:cNvSpPr txBox="1"/>
          <p:nvPr/>
        </p:nvSpPr>
        <p:spPr>
          <a:xfrm>
            <a:off x="5504688" y="3197273"/>
            <a:ext cx="3291840" cy="2257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b="1">
                <a:solidFill>
                  <a:srgbClr val="1F3A6E"/>
                </a:solidFill>
              </a:defRPr>
            </a:lvl1pPr>
          </a:lstStyle>
          <a:p>
            <a:r>
              <a:rPr dirty="0"/>
              <a:t>Future Directions</a:t>
            </a:r>
          </a:p>
        </p:txBody>
      </p:sp>
      <p:sp>
        <p:nvSpPr>
          <p:cNvPr id="94" name="Text 40"/>
          <p:cNvSpPr txBox="1"/>
          <p:nvPr/>
        </p:nvSpPr>
        <p:spPr>
          <a:xfrm>
            <a:off x="5504688" y="3523015"/>
            <a:ext cx="3291840"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Digital twins, Hybrid Models (Mechanistic + ML), Reinforcement Learning (RL)</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Shape 0"/>
          <p:cNvSpPr/>
          <p:nvPr/>
        </p:nvSpPr>
        <p:spPr>
          <a:xfrm>
            <a:off x="0" y="0"/>
            <a:ext cx="9144000" cy="64008"/>
          </a:xfrm>
          <a:prstGeom prst="rect">
            <a:avLst/>
          </a:prstGeom>
          <a:solidFill>
            <a:srgbClr val="1F3A6E"/>
          </a:solidFill>
          <a:ln w="12700">
            <a:solidFill>
              <a:srgbClr val="1F3A6E"/>
            </a:solidFill>
          </a:ln>
        </p:spPr>
        <p:txBody>
          <a:bodyPr lIns="45719" rIns="45719"/>
          <a:lstStyle/>
          <a:p>
            <a:endParaRPr/>
          </a:p>
        </p:txBody>
      </p:sp>
      <p:sp>
        <p:nvSpPr>
          <p:cNvPr id="97" name="Shape 1"/>
          <p:cNvSpPr/>
          <p:nvPr/>
        </p:nvSpPr>
        <p:spPr>
          <a:xfrm>
            <a:off x="0" y="5074920"/>
            <a:ext cx="9144000" cy="68581"/>
          </a:xfrm>
          <a:prstGeom prst="rect">
            <a:avLst/>
          </a:prstGeom>
          <a:solidFill>
            <a:srgbClr val="1F3A6E"/>
          </a:solidFill>
          <a:ln w="12700">
            <a:solidFill>
              <a:srgbClr val="1F3A6E"/>
            </a:solidFill>
          </a:ln>
        </p:spPr>
        <p:txBody>
          <a:bodyPr lIns="45719" rIns="45719"/>
          <a:lstStyle/>
          <a:p>
            <a:endParaRPr/>
          </a:p>
        </p:txBody>
      </p:sp>
      <p:sp>
        <p:nvSpPr>
          <p:cNvPr id="98" name="Text 2"/>
          <p:cNvSpPr txBox="1"/>
          <p:nvPr/>
        </p:nvSpPr>
        <p:spPr>
          <a:xfrm>
            <a:off x="45719" y="4894615"/>
            <a:ext cx="9052562"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a:solidFill>
                  <a:srgbClr val="8A9BBB"/>
                </a:solidFill>
              </a:defRPr>
            </a:lvl1pPr>
          </a:lstStyle>
          <a:p>
            <a:r>
              <a:t>AI Minor Course  |  Department of Chemical Engineering  |  2025–2026</a:t>
            </a:r>
          </a:p>
        </p:txBody>
      </p:sp>
      <p:sp>
        <p:nvSpPr>
          <p:cNvPr id="99" name="Shape 3"/>
          <p:cNvSpPr/>
          <p:nvPr/>
        </p:nvSpPr>
        <p:spPr>
          <a:xfrm>
            <a:off x="384047" y="164592"/>
            <a:ext cx="1143001" cy="256032"/>
          </a:xfrm>
          <a:prstGeom prst="roundRect">
            <a:avLst>
              <a:gd name="adj" fmla="val 21429"/>
            </a:avLst>
          </a:prstGeom>
          <a:solidFill>
            <a:srgbClr val="D6E4F7"/>
          </a:solidFill>
          <a:ln w="12700">
            <a:solidFill>
              <a:srgbClr val="2E6DB4"/>
            </a:solidFill>
          </a:ln>
        </p:spPr>
        <p:txBody>
          <a:bodyPr lIns="45719" rIns="45719"/>
          <a:lstStyle/>
          <a:p>
            <a:endParaRPr/>
          </a:p>
        </p:txBody>
      </p:sp>
      <p:sp>
        <p:nvSpPr>
          <p:cNvPr id="100" name="Text 4"/>
          <p:cNvSpPr txBox="1"/>
          <p:nvPr/>
        </p:nvSpPr>
        <p:spPr>
          <a:xfrm>
            <a:off x="429767" y="194599"/>
            <a:ext cx="1051561"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b="1">
                <a:solidFill>
                  <a:srgbClr val="2E6DB4"/>
                </a:solidFill>
              </a:defRPr>
            </a:lvl1pPr>
          </a:lstStyle>
          <a:p>
            <a:r>
              <a:t>BACKGROUND</a:t>
            </a:r>
          </a:p>
        </p:txBody>
      </p:sp>
      <p:sp>
        <p:nvSpPr>
          <p:cNvPr id="101" name="Text 5"/>
          <p:cNvSpPr txBox="1"/>
          <p:nvPr/>
        </p:nvSpPr>
        <p:spPr>
          <a:xfrm>
            <a:off x="384047" y="690996"/>
            <a:ext cx="8375906" cy="3462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600" b="1">
                <a:solidFill>
                  <a:srgbClr val="1F3A6E"/>
                </a:solidFill>
              </a:defRPr>
            </a:lvl1pPr>
          </a:lstStyle>
          <a:p>
            <a:r>
              <a:t>What is Liquid-Liquid Extraction?</a:t>
            </a:r>
          </a:p>
        </p:txBody>
      </p:sp>
      <p:sp>
        <p:nvSpPr>
          <p:cNvPr id="102" name="Shape 6"/>
          <p:cNvSpPr/>
          <p:nvPr/>
        </p:nvSpPr>
        <p:spPr>
          <a:xfrm>
            <a:off x="384047" y="1371600"/>
            <a:ext cx="4023361" cy="1005839"/>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103" name="Shape 7"/>
          <p:cNvSpPr/>
          <p:nvPr/>
        </p:nvSpPr>
        <p:spPr>
          <a:xfrm>
            <a:off x="384047" y="1371600"/>
            <a:ext cx="54865" cy="1005839"/>
          </a:xfrm>
          <a:prstGeom prst="rect">
            <a:avLst/>
          </a:prstGeom>
          <a:solidFill>
            <a:srgbClr val="0D7377"/>
          </a:solidFill>
          <a:ln w="12700">
            <a:solidFill>
              <a:srgbClr val="0D7377"/>
            </a:solidFill>
          </a:ln>
        </p:spPr>
        <p:txBody>
          <a:bodyPr lIns="45719" rIns="45719"/>
          <a:lstStyle/>
          <a:p>
            <a:endParaRPr/>
          </a:p>
        </p:txBody>
      </p:sp>
      <p:sp>
        <p:nvSpPr>
          <p:cNvPr id="104" name="Text 8"/>
          <p:cNvSpPr txBox="1"/>
          <p:nvPr/>
        </p:nvSpPr>
        <p:spPr>
          <a:xfrm>
            <a:off x="640079" y="1441626"/>
            <a:ext cx="3566161" cy="225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b="1">
                <a:solidFill>
                  <a:srgbClr val="1F3A6E"/>
                </a:solidFill>
              </a:defRPr>
            </a:lvl1pPr>
          </a:lstStyle>
          <a:p>
            <a:r>
              <a:t>Core Principle</a:t>
            </a:r>
          </a:p>
        </p:txBody>
      </p:sp>
      <p:sp>
        <p:nvSpPr>
          <p:cNvPr id="105" name="Text 9"/>
          <p:cNvSpPr txBox="1"/>
          <p:nvPr/>
        </p:nvSpPr>
        <p:spPr>
          <a:xfrm>
            <a:off x="640079" y="1829729"/>
            <a:ext cx="3566161" cy="3456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3A4A6A"/>
                </a:solidFill>
              </a:defRPr>
            </a:lvl1pPr>
          </a:lstStyle>
          <a:p>
            <a:r>
              <a:t>A solute is transferred from an aqueous phase into an immiscible organic phase based on its relative chemical affinity for each phase.</a:t>
            </a:r>
          </a:p>
        </p:txBody>
      </p:sp>
      <p:sp>
        <p:nvSpPr>
          <p:cNvPr id="106" name="Shape 10"/>
          <p:cNvSpPr/>
          <p:nvPr/>
        </p:nvSpPr>
        <p:spPr>
          <a:xfrm>
            <a:off x="384047" y="2505455"/>
            <a:ext cx="4023361" cy="1371601"/>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107" name="Shape 11"/>
          <p:cNvSpPr/>
          <p:nvPr/>
        </p:nvSpPr>
        <p:spPr>
          <a:xfrm>
            <a:off x="384047" y="2505455"/>
            <a:ext cx="54865" cy="1371601"/>
          </a:xfrm>
          <a:prstGeom prst="rect">
            <a:avLst/>
          </a:prstGeom>
          <a:solidFill>
            <a:srgbClr val="E8A838"/>
          </a:solidFill>
          <a:ln w="12700">
            <a:solidFill>
              <a:srgbClr val="E8A838"/>
            </a:solidFill>
          </a:ln>
        </p:spPr>
        <p:txBody>
          <a:bodyPr lIns="45719" rIns="45719"/>
          <a:lstStyle/>
          <a:p>
            <a:endParaRPr/>
          </a:p>
        </p:txBody>
      </p:sp>
      <p:sp>
        <p:nvSpPr>
          <p:cNvPr id="108" name="Text 12"/>
          <p:cNvSpPr txBox="1"/>
          <p:nvPr/>
        </p:nvSpPr>
        <p:spPr>
          <a:xfrm>
            <a:off x="640079" y="2575482"/>
            <a:ext cx="3566161" cy="225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b="1">
                <a:solidFill>
                  <a:srgbClr val="1F3A6E"/>
                </a:solidFill>
              </a:defRPr>
            </a:lvl1pPr>
          </a:lstStyle>
          <a:p>
            <a:r>
              <a:t>Key Equations</a:t>
            </a:r>
          </a:p>
        </p:txBody>
      </p:sp>
      <p:sp>
        <p:nvSpPr>
          <p:cNvPr id="109" name="Text 13"/>
          <p:cNvSpPr txBox="1"/>
          <p:nvPr/>
        </p:nvSpPr>
        <p:spPr>
          <a:xfrm>
            <a:off x="640079" y="2832267"/>
            <a:ext cx="3566161"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b="1">
                <a:solidFill>
                  <a:srgbClr val="8A9BBB"/>
                </a:solidFill>
              </a:defRPr>
            </a:lvl1pPr>
          </a:lstStyle>
          <a:p>
            <a:r>
              <a:t>Distribution Coefficient:</a:t>
            </a:r>
          </a:p>
        </p:txBody>
      </p:sp>
      <p:sp>
        <p:nvSpPr>
          <p:cNvPr id="110" name="Text 14"/>
          <p:cNvSpPr txBox="1"/>
          <p:nvPr/>
        </p:nvSpPr>
        <p:spPr>
          <a:xfrm>
            <a:off x="640079" y="3032760"/>
            <a:ext cx="3566161" cy="243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b="1">
                <a:solidFill>
                  <a:srgbClr val="1F3A6E"/>
                </a:solidFill>
                <a:latin typeface="Courier New"/>
                <a:ea typeface="Courier New"/>
                <a:cs typeface="Courier New"/>
                <a:sym typeface="Courier New"/>
              </a:defRPr>
            </a:lvl1pPr>
          </a:lstStyle>
          <a:p>
            <a:r>
              <a:t>D  =  C_organic  /  C_aqueous</a:t>
            </a:r>
          </a:p>
        </p:txBody>
      </p:sp>
      <p:sp>
        <p:nvSpPr>
          <p:cNvPr id="111" name="Text 15"/>
          <p:cNvSpPr txBox="1"/>
          <p:nvPr/>
        </p:nvSpPr>
        <p:spPr>
          <a:xfrm>
            <a:off x="640079" y="3307755"/>
            <a:ext cx="3566161" cy="2059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b="1">
                <a:solidFill>
                  <a:srgbClr val="8A9BBB"/>
                </a:solidFill>
              </a:defRPr>
            </a:lvl1pPr>
          </a:lstStyle>
          <a:p>
            <a:r>
              <a:t>Extraction Efficiency:</a:t>
            </a:r>
          </a:p>
        </p:txBody>
      </p:sp>
      <p:sp>
        <p:nvSpPr>
          <p:cNvPr id="112" name="Text 16"/>
          <p:cNvSpPr txBox="1"/>
          <p:nvPr/>
        </p:nvSpPr>
        <p:spPr>
          <a:xfrm>
            <a:off x="640079" y="3508248"/>
            <a:ext cx="3566161" cy="243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b="1">
                <a:solidFill>
                  <a:srgbClr val="1F3A6E"/>
                </a:solidFill>
                <a:latin typeface="Courier New"/>
                <a:ea typeface="Courier New"/>
                <a:cs typeface="Courier New"/>
                <a:sym typeface="Courier New"/>
              </a:defRPr>
            </a:lvl1pPr>
          </a:lstStyle>
          <a:p>
            <a:r>
              <a:t>%E  =  100 × D / (D + Vaq/Vorg)</a:t>
            </a:r>
          </a:p>
        </p:txBody>
      </p:sp>
      <p:sp>
        <p:nvSpPr>
          <p:cNvPr id="113" name="Text 17"/>
          <p:cNvSpPr txBox="1"/>
          <p:nvPr/>
        </p:nvSpPr>
        <p:spPr>
          <a:xfrm>
            <a:off x="4709160" y="1402895"/>
            <a:ext cx="4023361" cy="2483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b="1">
                <a:solidFill>
                  <a:srgbClr val="1F3A6E"/>
                </a:solidFill>
              </a:defRPr>
            </a:lvl1pPr>
          </a:lstStyle>
          <a:p>
            <a:r>
              <a:t>Key Process Variables</a:t>
            </a:r>
          </a:p>
        </p:txBody>
      </p:sp>
      <p:sp>
        <p:nvSpPr>
          <p:cNvPr id="114" name="Shape 18"/>
          <p:cNvSpPr/>
          <p:nvPr/>
        </p:nvSpPr>
        <p:spPr>
          <a:xfrm>
            <a:off x="4663440" y="1773935"/>
            <a:ext cx="228601" cy="228601"/>
          </a:xfrm>
          <a:prstGeom prst="ellipse">
            <a:avLst/>
          </a:prstGeom>
          <a:solidFill>
            <a:srgbClr val="2E6DB4"/>
          </a:solidFill>
          <a:ln w="12700">
            <a:solidFill>
              <a:srgbClr val="2E6DB4"/>
            </a:solidFill>
          </a:ln>
        </p:spPr>
        <p:txBody>
          <a:bodyPr lIns="45719" rIns="45719"/>
          <a:lstStyle/>
          <a:p>
            <a:endParaRPr/>
          </a:p>
        </p:txBody>
      </p:sp>
      <p:sp>
        <p:nvSpPr>
          <p:cNvPr id="115" name="Text 19"/>
          <p:cNvSpPr txBox="1"/>
          <p:nvPr/>
        </p:nvSpPr>
        <p:spPr>
          <a:xfrm>
            <a:off x="5001767" y="1741976"/>
            <a:ext cx="3566161" cy="2285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a:solidFill>
                  <a:srgbClr val="1F3A6E"/>
                </a:solidFill>
              </a:defRPr>
            </a:lvl1pPr>
          </a:lstStyle>
          <a:p>
            <a:r>
              <a:t>Acid / Solute Concentration</a:t>
            </a:r>
          </a:p>
        </p:txBody>
      </p:sp>
      <p:sp>
        <p:nvSpPr>
          <p:cNvPr id="116" name="Text 20"/>
          <p:cNvSpPr txBox="1"/>
          <p:nvPr/>
        </p:nvSpPr>
        <p:spPr>
          <a:xfrm>
            <a:off x="5001767" y="1977679"/>
            <a:ext cx="3566161"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Controls the reaction stoichiometry</a:t>
            </a:r>
          </a:p>
        </p:txBody>
      </p:sp>
      <p:sp>
        <p:nvSpPr>
          <p:cNvPr id="117" name="Shape 21"/>
          <p:cNvSpPr/>
          <p:nvPr/>
        </p:nvSpPr>
        <p:spPr>
          <a:xfrm>
            <a:off x="4663440" y="2377439"/>
            <a:ext cx="228601" cy="228601"/>
          </a:xfrm>
          <a:prstGeom prst="ellipse">
            <a:avLst/>
          </a:prstGeom>
          <a:solidFill>
            <a:srgbClr val="2E6DB4"/>
          </a:solidFill>
          <a:ln w="12700">
            <a:solidFill>
              <a:srgbClr val="2E6DB4"/>
            </a:solidFill>
          </a:ln>
        </p:spPr>
        <p:txBody>
          <a:bodyPr lIns="45719" rIns="45719"/>
          <a:lstStyle/>
          <a:p>
            <a:endParaRPr/>
          </a:p>
        </p:txBody>
      </p:sp>
      <p:sp>
        <p:nvSpPr>
          <p:cNvPr id="118" name="Text 22"/>
          <p:cNvSpPr txBox="1"/>
          <p:nvPr/>
        </p:nvSpPr>
        <p:spPr>
          <a:xfrm>
            <a:off x="5001767" y="2345480"/>
            <a:ext cx="3566161" cy="2285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a:solidFill>
                  <a:srgbClr val="1F3A6E"/>
                </a:solidFill>
              </a:defRPr>
            </a:lvl1pPr>
          </a:lstStyle>
          <a:p>
            <a:r>
              <a:t>Extractant (TOA) %</a:t>
            </a:r>
          </a:p>
        </p:txBody>
      </p:sp>
      <p:sp>
        <p:nvSpPr>
          <p:cNvPr id="119" name="Text 23"/>
          <p:cNvSpPr txBox="1"/>
          <p:nvPr/>
        </p:nvSpPr>
        <p:spPr>
          <a:xfrm>
            <a:off x="5001767" y="2581183"/>
            <a:ext cx="3566161"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Chemically binds to the target solute</a:t>
            </a:r>
          </a:p>
        </p:txBody>
      </p:sp>
      <p:sp>
        <p:nvSpPr>
          <p:cNvPr id="120" name="Shape 24"/>
          <p:cNvSpPr/>
          <p:nvPr/>
        </p:nvSpPr>
        <p:spPr>
          <a:xfrm>
            <a:off x="4663440" y="2980944"/>
            <a:ext cx="228601" cy="228601"/>
          </a:xfrm>
          <a:prstGeom prst="ellipse">
            <a:avLst/>
          </a:prstGeom>
          <a:solidFill>
            <a:srgbClr val="2E6DB4"/>
          </a:solidFill>
          <a:ln w="12700">
            <a:solidFill>
              <a:srgbClr val="2E6DB4"/>
            </a:solidFill>
          </a:ln>
        </p:spPr>
        <p:txBody>
          <a:bodyPr lIns="45719" rIns="45719"/>
          <a:lstStyle/>
          <a:p>
            <a:endParaRPr/>
          </a:p>
        </p:txBody>
      </p:sp>
      <p:sp>
        <p:nvSpPr>
          <p:cNvPr id="121" name="Text 25"/>
          <p:cNvSpPr txBox="1"/>
          <p:nvPr/>
        </p:nvSpPr>
        <p:spPr>
          <a:xfrm>
            <a:off x="5001767" y="2948984"/>
            <a:ext cx="3566161" cy="2285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a:solidFill>
                  <a:srgbClr val="1F3A6E"/>
                </a:solidFill>
              </a:defRPr>
            </a:lvl1pPr>
          </a:lstStyle>
          <a:p>
            <a:r>
              <a:t>Modifier (DCM) %</a:t>
            </a:r>
          </a:p>
        </p:txBody>
      </p:sp>
      <p:sp>
        <p:nvSpPr>
          <p:cNvPr id="122" name="Text 26"/>
          <p:cNvSpPr txBox="1"/>
          <p:nvPr/>
        </p:nvSpPr>
        <p:spPr>
          <a:xfrm>
            <a:off x="5001767" y="3184687"/>
            <a:ext cx="3566161"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Improves organic phase solvation</a:t>
            </a:r>
          </a:p>
        </p:txBody>
      </p:sp>
      <p:sp>
        <p:nvSpPr>
          <p:cNvPr id="123" name="Shape 27"/>
          <p:cNvSpPr/>
          <p:nvPr/>
        </p:nvSpPr>
        <p:spPr>
          <a:xfrm>
            <a:off x="4663440" y="3584447"/>
            <a:ext cx="228601" cy="228601"/>
          </a:xfrm>
          <a:prstGeom prst="ellipse">
            <a:avLst/>
          </a:prstGeom>
          <a:solidFill>
            <a:srgbClr val="2E6DB4"/>
          </a:solidFill>
          <a:ln w="12700">
            <a:solidFill>
              <a:srgbClr val="2E6DB4"/>
            </a:solidFill>
          </a:ln>
        </p:spPr>
        <p:txBody>
          <a:bodyPr lIns="45719" rIns="45719"/>
          <a:lstStyle/>
          <a:p>
            <a:endParaRPr/>
          </a:p>
        </p:txBody>
      </p:sp>
      <p:sp>
        <p:nvSpPr>
          <p:cNvPr id="124" name="Text 28"/>
          <p:cNvSpPr txBox="1"/>
          <p:nvPr/>
        </p:nvSpPr>
        <p:spPr>
          <a:xfrm>
            <a:off x="5001767" y="3552487"/>
            <a:ext cx="3566161"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a:solidFill>
                  <a:srgbClr val="1F3A6E"/>
                </a:solidFill>
              </a:defRPr>
            </a:lvl1pPr>
          </a:lstStyle>
          <a:p>
            <a:r>
              <a:t>Temperature (°C)</a:t>
            </a:r>
          </a:p>
        </p:txBody>
      </p:sp>
      <p:sp>
        <p:nvSpPr>
          <p:cNvPr id="125" name="Text 29"/>
          <p:cNvSpPr txBox="1"/>
          <p:nvPr/>
        </p:nvSpPr>
        <p:spPr>
          <a:xfrm>
            <a:off x="5001767" y="3788191"/>
            <a:ext cx="3566161"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Affects reaction kinetics &amp; viscosity</a:t>
            </a:r>
          </a:p>
        </p:txBody>
      </p:sp>
      <p:sp>
        <p:nvSpPr>
          <p:cNvPr id="126" name="Shape 30"/>
          <p:cNvSpPr/>
          <p:nvPr/>
        </p:nvSpPr>
        <p:spPr>
          <a:xfrm>
            <a:off x="4663440" y="4187952"/>
            <a:ext cx="228601" cy="228601"/>
          </a:xfrm>
          <a:prstGeom prst="ellipse">
            <a:avLst/>
          </a:prstGeom>
          <a:solidFill>
            <a:srgbClr val="2E6DB4"/>
          </a:solidFill>
          <a:ln w="12700">
            <a:solidFill>
              <a:srgbClr val="2E6DB4"/>
            </a:solidFill>
          </a:ln>
        </p:spPr>
        <p:txBody>
          <a:bodyPr lIns="45719" rIns="45719"/>
          <a:lstStyle/>
          <a:p>
            <a:endParaRPr/>
          </a:p>
        </p:txBody>
      </p:sp>
      <p:sp>
        <p:nvSpPr>
          <p:cNvPr id="127" name="Text 31"/>
          <p:cNvSpPr txBox="1"/>
          <p:nvPr/>
        </p:nvSpPr>
        <p:spPr>
          <a:xfrm>
            <a:off x="5001767" y="4155992"/>
            <a:ext cx="3566161" cy="2285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a:solidFill>
                  <a:srgbClr val="1F3A6E"/>
                </a:solidFill>
              </a:defRPr>
            </a:lvl1pPr>
          </a:lstStyle>
          <a:p>
            <a:r>
              <a:t>Phase Ratio (Vorg/Vaq)</a:t>
            </a:r>
          </a:p>
        </p:txBody>
      </p:sp>
      <p:sp>
        <p:nvSpPr>
          <p:cNvPr id="128" name="Text 32"/>
          <p:cNvSpPr txBox="1"/>
          <p:nvPr/>
        </p:nvSpPr>
        <p:spPr>
          <a:xfrm>
            <a:off x="5001767" y="4391695"/>
            <a:ext cx="3566161"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Determines driving force for transfer</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hape 0"/>
          <p:cNvSpPr/>
          <p:nvPr/>
        </p:nvSpPr>
        <p:spPr>
          <a:xfrm>
            <a:off x="0" y="0"/>
            <a:ext cx="9144000" cy="64008"/>
          </a:xfrm>
          <a:prstGeom prst="rect">
            <a:avLst/>
          </a:prstGeom>
          <a:solidFill>
            <a:srgbClr val="1F3A6E"/>
          </a:solidFill>
          <a:ln w="12700">
            <a:solidFill>
              <a:srgbClr val="1F3A6E"/>
            </a:solidFill>
          </a:ln>
        </p:spPr>
        <p:txBody>
          <a:bodyPr lIns="45719" rIns="45719"/>
          <a:lstStyle/>
          <a:p>
            <a:endParaRPr/>
          </a:p>
        </p:txBody>
      </p:sp>
      <p:sp>
        <p:nvSpPr>
          <p:cNvPr id="131" name="Shape 1"/>
          <p:cNvSpPr/>
          <p:nvPr/>
        </p:nvSpPr>
        <p:spPr>
          <a:xfrm>
            <a:off x="0" y="5074920"/>
            <a:ext cx="9144000" cy="68581"/>
          </a:xfrm>
          <a:prstGeom prst="rect">
            <a:avLst/>
          </a:prstGeom>
          <a:solidFill>
            <a:srgbClr val="1F3A6E"/>
          </a:solidFill>
          <a:ln w="12700">
            <a:solidFill>
              <a:srgbClr val="1F3A6E"/>
            </a:solidFill>
          </a:ln>
        </p:spPr>
        <p:txBody>
          <a:bodyPr lIns="45719" rIns="45719"/>
          <a:lstStyle/>
          <a:p>
            <a:endParaRPr/>
          </a:p>
        </p:txBody>
      </p:sp>
      <p:sp>
        <p:nvSpPr>
          <p:cNvPr id="132" name="Text 2"/>
          <p:cNvSpPr txBox="1"/>
          <p:nvPr/>
        </p:nvSpPr>
        <p:spPr>
          <a:xfrm>
            <a:off x="45719" y="4894615"/>
            <a:ext cx="9052562"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a:solidFill>
                  <a:srgbClr val="8A9BBB"/>
                </a:solidFill>
              </a:defRPr>
            </a:lvl1pPr>
          </a:lstStyle>
          <a:p>
            <a:r>
              <a:t>AI Minor Course  |  Department of Chemical Engineering  |  2025–2026</a:t>
            </a:r>
          </a:p>
        </p:txBody>
      </p:sp>
      <p:sp>
        <p:nvSpPr>
          <p:cNvPr id="133" name="Shape 3"/>
          <p:cNvSpPr/>
          <p:nvPr/>
        </p:nvSpPr>
        <p:spPr>
          <a:xfrm>
            <a:off x="384047" y="164592"/>
            <a:ext cx="2446022" cy="256032"/>
          </a:xfrm>
          <a:prstGeom prst="roundRect">
            <a:avLst>
              <a:gd name="adj" fmla="val 21429"/>
            </a:avLst>
          </a:prstGeom>
          <a:solidFill>
            <a:srgbClr val="D6E4F7"/>
          </a:solidFill>
          <a:ln w="12700">
            <a:solidFill>
              <a:srgbClr val="2E6DB4"/>
            </a:solidFill>
          </a:ln>
        </p:spPr>
        <p:txBody>
          <a:bodyPr lIns="45719" rIns="45719"/>
          <a:lstStyle/>
          <a:p>
            <a:endParaRPr/>
          </a:p>
        </p:txBody>
      </p:sp>
      <p:sp>
        <p:nvSpPr>
          <p:cNvPr id="134" name="Text 4"/>
          <p:cNvSpPr txBox="1"/>
          <p:nvPr/>
        </p:nvSpPr>
        <p:spPr>
          <a:xfrm>
            <a:off x="429767" y="194599"/>
            <a:ext cx="2354582"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b="1">
                <a:solidFill>
                  <a:srgbClr val="2E6DB4"/>
                </a:solidFill>
              </a:defRPr>
            </a:lvl1pPr>
          </a:lstStyle>
          <a:p>
            <a:r>
              <a:t>ARTIFICIAL NEURAL NETWORK</a:t>
            </a:r>
          </a:p>
        </p:txBody>
      </p:sp>
      <p:sp>
        <p:nvSpPr>
          <p:cNvPr id="135" name="Text 5"/>
          <p:cNvSpPr txBox="1"/>
          <p:nvPr/>
        </p:nvSpPr>
        <p:spPr>
          <a:xfrm>
            <a:off x="384047" y="690996"/>
            <a:ext cx="8375906" cy="3462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600" b="1">
                <a:solidFill>
                  <a:srgbClr val="1F3A6E"/>
                </a:solidFill>
              </a:defRPr>
            </a:lvl1pPr>
          </a:lstStyle>
          <a:p>
            <a:r>
              <a:t>How Does an ANN Work?</a:t>
            </a:r>
          </a:p>
        </p:txBody>
      </p:sp>
      <p:sp>
        <p:nvSpPr>
          <p:cNvPr id="136" name="Shape 6"/>
          <p:cNvSpPr/>
          <p:nvPr/>
        </p:nvSpPr>
        <p:spPr>
          <a:xfrm>
            <a:off x="384047" y="1325880"/>
            <a:ext cx="1188721" cy="475489"/>
          </a:xfrm>
          <a:prstGeom prst="roundRect">
            <a:avLst>
              <a:gd name="adj" fmla="val 15385"/>
            </a:avLst>
          </a:prstGeom>
          <a:solidFill>
            <a:srgbClr val="1F3A6E"/>
          </a:solidFill>
          <a:ln w="12700">
            <a:solidFill>
              <a:srgbClr val="1F3A6E"/>
            </a:solidFill>
          </a:ln>
        </p:spPr>
        <p:txBody>
          <a:bodyPr lIns="45719" rIns="45719"/>
          <a:lstStyle/>
          <a:p>
            <a:endParaRPr/>
          </a:p>
        </p:txBody>
      </p:sp>
      <p:sp>
        <p:nvSpPr>
          <p:cNvPr id="137" name="Text 7"/>
          <p:cNvSpPr txBox="1"/>
          <p:nvPr/>
        </p:nvSpPr>
        <p:spPr>
          <a:xfrm>
            <a:off x="429768" y="1374175"/>
            <a:ext cx="1097280"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b="1">
                <a:solidFill>
                  <a:srgbClr val="FFFFFF"/>
                </a:solidFill>
              </a:defRPr>
            </a:lvl1pPr>
          </a:lstStyle>
          <a:p>
            <a:r>
              <a:t>Input Layer</a:t>
            </a:r>
          </a:p>
        </p:txBody>
      </p:sp>
      <p:sp>
        <p:nvSpPr>
          <p:cNvPr id="138" name="Text 8"/>
          <p:cNvSpPr txBox="1"/>
          <p:nvPr/>
        </p:nvSpPr>
        <p:spPr>
          <a:xfrm>
            <a:off x="429768" y="1580292"/>
            <a:ext cx="1097280" cy="1861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700" i="1">
                <a:solidFill>
                  <a:srgbClr val="FFFFFF"/>
                </a:solidFill>
              </a:defRPr>
            </a:lvl1pPr>
          </a:lstStyle>
          <a:p>
            <a:r>
              <a:t>5 neurons</a:t>
            </a:r>
          </a:p>
        </p:txBody>
      </p:sp>
      <p:sp>
        <p:nvSpPr>
          <p:cNvPr id="139" name="Shape 9"/>
          <p:cNvSpPr/>
          <p:nvPr/>
        </p:nvSpPr>
        <p:spPr>
          <a:xfrm>
            <a:off x="3246120" y="1325880"/>
            <a:ext cx="1188721" cy="475489"/>
          </a:xfrm>
          <a:prstGeom prst="roundRect">
            <a:avLst>
              <a:gd name="adj" fmla="val 15385"/>
            </a:avLst>
          </a:prstGeom>
          <a:solidFill>
            <a:srgbClr val="2E6DB4"/>
          </a:solidFill>
          <a:ln w="12700">
            <a:solidFill>
              <a:srgbClr val="2E6DB4"/>
            </a:solidFill>
          </a:ln>
        </p:spPr>
        <p:txBody>
          <a:bodyPr lIns="45719" rIns="45719"/>
          <a:lstStyle/>
          <a:p>
            <a:endParaRPr/>
          </a:p>
        </p:txBody>
      </p:sp>
      <p:sp>
        <p:nvSpPr>
          <p:cNvPr id="140" name="Text 10"/>
          <p:cNvSpPr txBox="1"/>
          <p:nvPr/>
        </p:nvSpPr>
        <p:spPr>
          <a:xfrm>
            <a:off x="3291840" y="1374175"/>
            <a:ext cx="1097281"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b="1">
                <a:solidFill>
                  <a:srgbClr val="FFFFFF"/>
                </a:solidFill>
              </a:defRPr>
            </a:lvl1pPr>
          </a:lstStyle>
          <a:p>
            <a:r>
              <a:t>Hidden Layer 1</a:t>
            </a:r>
          </a:p>
        </p:txBody>
      </p:sp>
      <p:sp>
        <p:nvSpPr>
          <p:cNvPr id="141" name="Text 11"/>
          <p:cNvSpPr txBox="1"/>
          <p:nvPr/>
        </p:nvSpPr>
        <p:spPr>
          <a:xfrm>
            <a:off x="3291840" y="1580292"/>
            <a:ext cx="1097281" cy="1861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700" i="1">
                <a:solidFill>
                  <a:srgbClr val="FFFFFF"/>
                </a:solidFill>
              </a:defRPr>
            </a:lvl1pPr>
          </a:lstStyle>
          <a:p>
            <a:r>
              <a:t>15 neurons (tanh)</a:t>
            </a:r>
          </a:p>
        </p:txBody>
      </p:sp>
      <p:sp>
        <p:nvSpPr>
          <p:cNvPr id="142" name="Shape 12"/>
          <p:cNvSpPr/>
          <p:nvPr/>
        </p:nvSpPr>
        <p:spPr>
          <a:xfrm>
            <a:off x="5760720" y="1325880"/>
            <a:ext cx="1188721" cy="475489"/>
          </a:xfrm>
          <a:prstGeom prst="roundRect">
            <a:avLst>
              <a:gd name="adj" fmla="val 15385"/>
            </a:avLst>
          </a:prstGeom>
          <a:solidFill>
            <a:srgbClr val="0D7377"/>
          </a:solidFill>
          <a:ln w="12700">
            <a:solidFill>
              <a:srgbClr val="0D7377"/>
            </a:solidFill>
          </a:ln>
        </p:spPr>
        <p:txBody>
          <a:bodyPr lIns="45719" rIns="45719"/>
          <a:lstStyle/>
          <a:p>
            <a:endParaRPr/>
          </a:p>
        </p:txBody>
      </p:sp>
      <p:sp>
        <p:nvSpPr>
          <p:cNvPr id="143" name="Text 13"/>
          <p:cNvSpPr txBox="1"/>
          <p:nvPr/>
        </p:nvSpPr>
        <p:spPr>
          <a:xfrm>
            <a:off x="5806440" y="1374175"/>
            <a:ext cx="1097281"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b="1">
                <a:solidFill>
                  <a:srgbClr val="FFFFFF"/>
                </a:solidFill>
              </a:defRPr>
            </a:lvl1pPr>
          </a:lstStyle>
          <a:p>
            <a:r>
              <a:t>Hidden Layer 2</a:t>
            </a:r>
          </a:p>
        </p:txBody>
      </p:sp>
      <p:sp>
        <p:nvSpPr>
          <p:cNvPr id="144" name="Text 14"/>
          <p:cNvSpPr txBox="1"/>
          <p:nvPr/>
        </p:nvSpPr>
        <p:spPr>
          <a:xfrm>
            <a:off x="5806440" y="1580292"/>
            <a:ext cx="1097281" cy="1861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700" i="1">
                <a:solidFill>
                  <a:srgbClr val="FFFFFF"/>
                </a:solidFill>
              </a:defRPr>
            </a:lvl1pPr>
          </a:lstStyle>
          <a:p>
            <a:r>
              <a:t>10 neurons (tanh)</a:t>
            </a:r>
          </a:p>
        </p:txBody>
      </p:sp>
      <p:sp>
        <p:nvSpPr>
          <p:cNvPr id="145" name="Shape 15"/>
          <p:cNvSpPr/>
          <p:nvPr/>
        </p:nvSpPr>
        <p:spPr>
          <a:xfrm>
            <a:off x="7955280" y="1325880"/>
            <a:ext cx="1188721" cy="475489"/>
          </a:xfrm>
          <a:prstGeom prst="roundRect">
            <a:avLst>
              <a:gd name="adj" fmla="val 15385"/>
            </a:avLst>
          </a:prstGeom>
          <a:solidFill>
            <a:srgbClr val="1B7A4E"/>
          </a:solidFill>
          <a:ln w="12700">
            <a:solidFill>
              <a:srgbClr val="1B7A4E"/>
            </a:solidFill>
          </a:ln>
        </p:spPr>
        <p:txBody>
          <a:bodyPr lIns="45719" rIns="45719"/>
          <a:lstStyle/>
          <a:p>
            <a:endParaRPr/>
          </a:p>
        </p:txBody>
      </p:sp>
      <p:sp>
        <p:nvSpPr>
          <p:cNvPr id="146" name="Text 16"/>
          <p:cNvSpPr txBox="1"/>
          <p:nvPr/>
        </p:nvSpPr>
        <p:spPr>
          <a:xfrm>
            <a:off x="8001000" y="1374175"/>
            <a:ext cx="1097281"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b="1">
                <a:solidFill>
                  <a:srgbClr val="FFFFFF"/>
                </a:solidFill>
              </a:defRPr>
            </a:lvl1pPr>
          </a:lstStyle>
          <a:p>
            <a:r>
              <a:t>Output</a:t>
            </a:r>
          </a:p>
        </p:txBody>
      </p:sp>
      <p:sp>
        <p:nvSpPr>
          <p:cNvPr id="147" name="Text 17"/>
          <p:cNvSpPr txBox="1"/>
          <p:nvPr/>
        </p:nvSpPr>
        <p:spPr>
          <a:xfrm>
            <a:off x="8001000" y="1580292"/>
            <a:ext cx="1097281" cy="1861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700" i="1">
                <a:solidFill>
                  <a:srgbClr val="FFFFFF"/>
                </a:solidFill>
              </a:defRPr>
            </a:lvl1pPr>
          </a:lstStyle>
          <a:p>
            <a:r>
              <a:t>1 neuron</a:t>
            </a:r>
          </a:p>
        </p:txBody>
      </p:sp>
      <p:sp>
        <p:nvSpPr>
          <p:cNvPr id="148" name="Shape 18"/>
          <p:cNvSpPr/>
          <p:nvPr/>
        </p:nvSpPr>
        <p:spPr>
          <a:xfrm>
            <a:off x="502919" y="1965960"/>
            <a:ext cx="475489" cy="384049"/>
          </a:xfrm>
          <a:prstGeom prst="ellipse">
            <a:avLst/>
          </a:prstGeom>
          <a:solidFill>
            <a:srgbClr val="1F3A6E"/>
          </a:solidFill>
          <a:ln w="12700">
            <a:solidFill>
              <a:srgbClr val="CADCFC"/>
            </a:solidFill>
          </a:ln>
        </p:spPr>
        <p:txBody>
          <a:bodyPr lIns="45719" rIns="45719"/>
          <a:lstStyle/>
          <a:p>
            <a:endParaRPr/>
          </a:p>
        </p:txBody>
      </p:sp>
      <p:sp>
        <p:nvSpPr>
          <p:cNvPr id="149" name="Text 19"/>
          <p:cNvSpPr txBox="1"/>
          <p:nvPr/>
        </p:nvSpPr>
        <p:spPr>
          <a:xfrm>
            <a:off x="548639" y="2064924"/>
            <a:ext cx="384048" cy="1861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700">
                <a:solidFill>
                  <a:srgbClr val="FFFFFF"/>
                </a:solidFill>
              </a:defRPr>
            </a:lvl1pPr>
          </a:lstStyle>
          <a:p>
            <a:r>
              <a:t>Acid</a:t>
            </a:r>
          </a:p>
        </p:txBody>
      </p:sp>
      <p:sp>
        <p:nvSpPr>
          <p:cNvPr id="150" name="Shape 20"/>
          <p:cNvSpPr/>
          <p:nvPr/>
        </p:nvSpPr>
        <p:spPr>
          <a:xfrm>
            <a:off x="502919" y="2496311"/>
            <a:ext cx="475489" cy="384049"/>
          </a:xfrm>
          <a:prstGeom prst="ellipse">
            <a:avLst/>
          </a:prstGeom>
          <a:solidFill>
            <a:srgbClr val="1F3A6E"/>
          </a:solidFill>
          <a:ln w="12700">
            <a:solidFill>
              <a:srgbClr val="CADCFC"/>
            </a:solidFill>
          </a:ln>
        </p:spPr>
        <p:txBody>
          <a:bodyPr lIns="45719" rIns="45719"/>
          <a:lstStyle/>
          <a:p>
            <a:endParaRPr/>
          </a:p>
        </p:txBody>
      </p:sp>
      <p:sp>
        <p:nvSpPr>
          <p:cNvPr id="151" name="Text 21"/>
          <p:cNvSpPr txBox="1"/>
          <p:nvPr/>
        </p:nvSpPr>
        <p:spPr>
          <a:xfrm>
            <a:off x="548639" y="2595276"/>
            <a:ext cx="384048" cy="1861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700">
                <a:solidFill>
                  <a:srgbClr val="FFFFFF"/>
                </a:solidFill>
              </a:defRPr>
            </a:lvl1pPr>
          </a:lstStyle>
          <a:p>
            <a:r>
              <a:t>TOA%</a:t>
            </a:r>
          </a:p>
        </p:txBody>
      </p:sp>
      <p:sp>
        <p:nvSpPr>
          <p:cNvPr id="152" name="Shape 22"/>
          <p:cNvSpPr/>
          <p:nvPr/>
        </p:nvSpPr>
        <p:spPr>
          <a:xfrm>
            <a:off x="502919" y="3026664"/>
            <a:ext cx="475489" cy="384049"/>
          </a:xfrm>
          <a:prstGeom prst="ellipse">
            <a:avLst/>
          </a:prstGeom>
          <a:solidFill>
            <a:srgbClr val="1F3A6E"/>
          </a:solidFill>
          <a:ln w="12700">
            <a:solidFill>
              <a:srgbClr val="CADCFC"/>
            </a:solidFill>
          </a:ln>
        </p:spPr>
        <p:txBody>
          <a:bodyPr lIns="45719" rIns="45719"/>
          <a:lstStyle/>
          <a:p>
            <a:endParaRPr/>
          </a:p>
        </p:txBody>
      </p:sp>
      <p:sp>
        <p:nvSpPr>
          <p:cNvPr id="153" name="Text 23"/>
          <p:cNvSpPr txBox="1"/>
          <p:nvPr/>
        </p:nvSpPr>
        <p:spPr>
          <a:xfrm>
            <a:off x="548639" y="3125628"/>
            <a:ext cx="384048" cy="1861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700">
                <a:solidFill>
                  <a:srgbClr val="FFFFFF"/>
                </a:solidFill>
              </a:defRPr>
            </a:lvl1pPr>
          </a:lstStyle>
          <a:p>
            <a:r>
              <a:t>DCM%</a:t>
            </a:r>
          </a:p>
        </p:txBody>
      </p:sp>
      <p:sp>
        <p:nvSpPr>
          <p:cNvPr id="154" name="Shape 24"/>
          <p:cNvSpPr/>
          <p:nvPr/>
        </p:nvSpPr>
        <p:spPr>
          <a:xfrm>
            <a:off x="502919" y="3557015"/>
            <a:ext cx="475489" cy="384049"/>
          </a:xfrm>
          <a:prstGeom prst="ellipse">
            <a:avLst/>
          </a:prstGeom>
          <a:solidFill>
            <a:srgbClr val="1F3A6E"/>
          </a:solidFill>
          <a:ln w="12700">
            <a:solidFill>
              <a:srgbClr val="CADCFC"/>
            </a:solidFill>
          </a:ln>
        </p:spPr>
        <p:txBody>
          <a:bodyPr lIns="45719" rIns="45719"/>
          <a:lstStyle/>
          <a:p>
            <a:endParaRPr/>
          </a:p>
        </p:txBody>
      </p:sp>
      <p:sp>
        <p:nvSpPr>
          <p:cNvPr id="155" name="Text 25"/>
          <p:cNvSpPr txBox="1"/>
          <p:nvPr/>
        </p:nvSpPr>
        <p:spPr>
          <a:xfrm>
            <a:off x="548639" y="3655980"/>
            <a:ext cx="384048" cy="1861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700">
                <a:solidFill>
                  <a:srgbClr val="FFFFFF"/>
                </a:solidFill>
              </a:defRPr>
            </a:lvl1pPr>
          </a:lstStyle>
          <a:p>
            <a:r>
              <a:t>Temp</a:t>
            </a:r>
          </a:p>
        </p:txBody>
      </p:sp>
      <p:sp>
        <p:nvSpPr>
          <p:cNvPr id="156" name="Shape 26"/>
          <p:cNvSpPr/>
          <p:nvPr/>
        </p:nvSpPr>
        <p:spPr>
          <a:xfrm>
            <a:off x="502919" y="4087367"/>
            <a:ext cx="475489" cy="384049"/>
          </a:xfrm>
          <a:prstGeom prst="ellipse">
            <a:avLst/>
          </a:prstGeom>
          <a:solidFill>
            <a:srgbClr val="1F3A6E"/>
          </a:solidFill>
          <a:ln w="12700">
            <a:solidFill>
              <a:srgbClr val="CADCFC"/>
            </a:solidFill>
          </a:ln>
        </p:spPr>
        <p:txBody>
          <a:bodyPr lIns="45719" rIns="45719"/>
          <a:lstStyle/>
          <a:p>
            <a:endParaRPr/>
          </a:p>
        </p:txBody>
      </p:sp>
      <p:sp>
        <p:nvSpPr>
          <p:cNvPr id="157" name="Text 27"/>
          <p:cNvSpPr txBox="1"/>
          <p:nvPr/>
        </p:nvSpPr>
        <p:spPr>
          <a:xfrm>
            <a:off x="548639" y="4186332"/>
            <a:ext cx="384048" cy="1861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700">
                <a:solidFill>
                  <a:srgbClr val="FFFFFF"/>
                </a:solidFill>
              </a:defRPr>
            </a:lvl1pPr>
          </a:lstStyle>
          <a:p>
            <a:r>
              <a:t>Ratio</a:t>
            </a:r>
          </a:p>
        </p:txBody>
      </p:sp>
      <p:sp>
        <p:nvSpPr>
          <p:cNvPr id="158" name="Shape 28"/>
          <p:cNvSpPr/>
          <p:nvPr/>
        </p:nvSpPr>
        <p:spPr>
          <a:xfrm>
            <a:off x="3310128" y="1965960"/>
            <a:ext cx="438913" cy="347473"/>
          </a:xfrm>
          <a:prstGeom prst="ellipse">
            <a:avLst/>
          </a:prstGeom>
          <a:solidFill>
            <a:srgbClr val="2E6DB4"/>
          </a:solidFill>
          <a:ln w="12700">
            <a:solidFill>
              <a:srgbClr val="D6E4F7"/>
            </a:solidFill>
          </a:ln>
        </p:spPr>
        <p:txBody>
          <a:bodyPr lIns="45719" rIns="45719"/>
          <a:lstStyle/>
          <a:p>
            <a:endParaRPr/>
          </a:p>
        </p:txBody>
      </p:sp>
      <p:sp>
        <p:nvSpPr>
          <p:cNvPr id="159" name="Shape 29"/>
          <p:cNvSpPr/>
          <p:nvPr/>
        </p:nvSpPr>
        <p:spPr>
          <a:xfrm>
            <a:off x="3310128" y="2496311"/>
            <a:ext cx="438913" cy="347473"/>
          </a:xfrm>
          <a:prstGeom prst="ellipse">
            <a:avLst/>
          </a:prstGeom>
          <a:solidFill>
            <a:srgbClr val="2E6DB4"/>
          </a:solidFill>
          <a:ln w="12700">
            <a:solidFill>
              <a:srgbClr val="D6E4F7"/>
            </a:solidFill>
          </a:ln>
        </p:spPr>
        <p:txBody>
          <a:bodyPr lIns="45719" rIns="45719"/>
          <a:lstStyle/>
          <a:p>
            <a:endParaRPr/>
          </a:p>
        </p:txBody>
      </p:sp>
      <p:sp>
        <p:nvSpPr>
          <p:cNvPr id="160" name="Shape 30"/>
          <p:cNvSpPr/>
          <p:nvPr/>
        </p:nvSpPr>
        <p:spPr>
          <a:xfrm>
            <a:off x="3310128" y="3026664"/>
            <a:ext cx="438913" cy="347473"/>
          </a:xfrm>
          <a:prstGeom prst="ellipse">
            <a:avLst/>
          </a:prstGeom>
          <a:solidFill>
            <a:srgbClr val="2E6DB4"/>
          </a:solidFill>
          <a:ln w="12700">
            <a:solidFill>
              <a:srgbClr val="D6E4F7"/>
            </a:solidFill>
          </a:ln>
        </p:spPr>
        <p:txBody>
          <a:bodyPr lIns="45719" rIns="45719"/>
          <a:lstStyle/>
          <a:p>
            <a:endParaRPr/>
          </a:p>
        </p:txBody>
      </p:sp>
      <p:sp>
        <p:nvSpPr>
          <p:cNvPr id="161" name="Shape 31"/>
          <p:cNvSpPr/>
          <p:nvPr/>
        </p:nvSpPr>
        <p:spPr>
          <a:xfrm>
            <a:off x="3310128" y="3557015"/>
            <a:ext cx="438913" cy="347473"/>
          </a:xfrm>
          <a:prstGeom prst="ellipse">
            <a:avLst/>
          </a:prstGeom>
          <a:solidFill>
            <a:srgbClr val="2E6DB4"/>
          </a:solidFill>
          <a:ln w="12700">
            <a:solidFill>
              <a:srgbClr val="D6E4F7"/>
            </a:solidFill>
          </a:ln>
        </p:spPr>
        <p:txBody>
          <a:bodyPr lIns="45719" rIns="45719"/>
          <a:lstStyle/>
          <a:p>
            <a:endParaRPr/>
          </a:p>
        </p:txBody>
      </p:sp>
      <p:sp>
        <p:nvSpPr>
          <p:cNvPr id="162" name="Shape 32"/>
          <p:cNvSpPr/>
          <p:nvPr/>
        </p:nvSpPr>
        <p:spPr>
          <a:xfrm>
            <a:off x="3310128" y="4087367"/>
            <a:ext cx="438913" cy="347473"/>
          </a:xfrm>
          <a:prstGeom prst="ellipse">
            <a:avLst/>
          </a:prstGeom>
          <a:solidFill>
            <a:srgbClr val="2E6DB4"/>
          </a:solidFill>
          <a:ln w="12700">
            <a:solidFill>
              <a:srgbClr val="D6E4F7"/>
            </a:solidFill>
          </a:ln>
        </p:spPr>
        <p:txBody>
          <a:bodyPr lIns="45719" rIns="45719"/>
          <a:lstStyle/>
          <a:p>
            <a:endParaRPr/>
          </a:p>
        </p:txBody>
      </p:sp>
      <p:sp>
        <p:nvSpPr>
          <p:cNvPr id="163" name="Text 33"/>
          <p:cNvSpPr txBox="1"/>
          <p:nvPr/>
        </p:nvSpPr>
        <p:spPr>
          <a:xfrm>
            <a:off x="3355848" y="4549184"/>
            <a:ext cx="347473"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000">
                <a:solidFill>
                  <a:srgbClr val="2E6DB4"/>
                </a:solidFill>
              </a:defRPr>
            </a:lvl1pPr>
          </a:lstStyle>
          <a:p>
            <a:r>
              <a:t>...</a:t>
            </a:r>
          </a:p>
        </p:txBody>
      </p:sp>
      <p:sp>
        <p:nvSpPr>
          <p:cNvPr id="164" name="Shape 34"/>
          <p:cNvSpPr/>
          <p:nvPr/>
        </p:nvSpPr>
        <p:spPr>
          <a:xfrm>
            <a:off x="5833871" y="2148839"/>
            <a:ext cx="402337" cy="347473"/>
          </a:xfrm>
          <a:prstGeom prst="ellipse">
            <a:avLst/>
          </a:prstGeom>
          <a:solidFill>
            <a:srgbClr val="0D7377"/>
          </a:solidFill>
          <a:ln w="12700">
            <a:solidFill>
              <a:srgbClr val="80D4CA"/>
            </a:solidFill>
          </a:ln>
        </p:spPr>
        <p:txBody>
          <a:bodyPr lIns="45719" rIns="45719"/>
          <a:lstStyle/>
          <a:p>
            <a:endParaRPr/>
          </a:p>
        </p:txBody>
      </p:sp>
      <p:sp>
        <p:nvSpPr>
          <p:cNvPr id="165" name="Shape 35"/>
          <p:cNvSpPr/>
          <p:nvPr/>
        </p:nvSpPr>
        <p:spPr>
          <a:xfrm>
            <a:off x="5833871" y="2724911"/>
            <a:ext cx="402337" cy="347473"/>
          </a:xfrm>
          <a:prstGeom prst="ellipse">
            <a:avLst/>
          </a:prstGeom>
          <a:solidFill>
            <a:srgbClr val="0D7377"/>
          </a:solidFill>
          <a:ln w="12700">
            <a:solidFill>
              <a:srgbClr val="80D4CA"/>
            </a:solidFill>
          </a:ln>
        </p:spPr>
        <p:txBody>
          <a:bodyPr lIns="45719" rIns="45719"/>
          <a:lstStyle/>
          <a:p>
            <a:endParaRPr/>
          </a:p>
        </p:txBody>
      </p:sp>
      <p:sp>
        <p:nvSpPr>
          <p:cNvPr id="166" name="Shape 36"/>
          <p:cNvSpPr/>
          <p:nvPr/>
        </p:nvSpPr>
        <p:spPr>
          <a:xfrm>
            <a:off x="5833871" y="3300984"/>
            <a:ext cx="402337" cy="347473"/>
          </a:xfrm>
          <a:prstGeom prst="ellipse">
            <a:avLst/>
          </a:prstGeom>
          <a:solidFill>
            <a:srgbClr val="0D7377"/>
          </a:solidFill>
          <a:ln w="12700">
            <a:solidFill>
              <a:srgbClr val="80D4CA"/>
            </a:solidFill>
          </a:ln>
        </p:spPr>
        <p:txBody>
          <a:bodyPr lIns="45719" rIns="45719"/>
          <a:lstStyle/>
          <a:p>
            <a:endParaRPr/>
          </a:p>
        </p:txBody>
      </p:sp>
      <p:sp>
        <p:nvSpPr>
          <p:cNvPr id="167" name="Shape 37"/>
          <p:cNvSpPr/>
          <p:nvPr/>
        </p:nvSpPr>
        <p:spPr>
          <a:xfrm>
            <a:off x="5833871" y="3877055"/>
            <a:ext cx="402337" cy="347473"/>
          </a:xfrm>
          <a:prstGeom prst="ellipse">
            <a:avLst/>
          </a:prstGeom>
          <a:solidFill>
            <a:srgbClr val="0D7377"/>
          </a:solidFill>
          <a:ln w="12700">
            <a:solidFill>
              <a:srgbClr val="80D4CA"/>
            </a:solidFill>
          </a:ln>
        </p:spPr>
        <p:txBody>
          <a:bodyPr lIns="45719" rIns="45719"/>
          <a:lstStyle/>
          <a:p>
            <a:endParaRPr/>
          </a:p>
        </p:txBody>
      </p:sp>
      <p:sp>
        <p:nvSpPr>
          <p:cNvPr id="168" name="Shape 38"/>
          <p:cNvSpPr/>
          <p:nvPr/>
        </p:nvSpPr>
        <p:spPr>
          <a:xfrm>
            <a:off x="8028431" y="2761488"/>
            <a:ext cx="530353" cy="475489"/>
          </a:xfrm>
          <a:prstGeom prst="ellipse">
            <a:avLst/>
          </a:prstGeom>
          <a:solidFill>
            <a:srgbClr val="1B7A4E"/>
          </a:solidFill>
          <a:ln w="12700">
            <a:solidFill>
              <a:srgbClr val="80C8A0"/>
            </a:solidFill>
          </a:ln>
        </p:spPr>
        <p:txBody>
          <a:bodyPr lIns="45719" rIns="45719"/>
          <a:lstStyle/>
          <a:p>
            <a:endParaRPr/>
          </a:p>
        </p:txBody>
      </p:sp>
      <p:sp>
        <p:nvSpPr>
          <p:cNvPr id="169" name="Text 39"/>
          <p:cNvSpPr txBox="1"/>
          <p:nvPr/>
        </p:nvSpPr>
        <p:spPr>
          <a:xfrm>
            <a:off x="8074151" y="2886377"/>
            <a:ext cx="438913" cy="2257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100" b="1">
                <a:solidFill>
                  <a:srgbClr val="FFFFFF"/>
                </a:solidFill>
              </a:defRPr>
            </a:lvl1pPr>
          </a:lstStyle>
          <a:p>
            <a:r>
              <a:t>%Y</a:t>
            </a:r>
          </a:p>
        </p:txBody>
      </p:sp>
      <p:sp>
        <p:nvSpPr>
          <p:cNvPr id="170" name="Shape 40"/>
          <p:cNvSpPr/>
          <p:nvPr/>
        </p:nvSpPr>
        <p:spPr>
          <a:xfrm>
            <a:off x="987551" y="3072383"/>
            <a:ext cx="2322578" cy="1"/>
          </a:xfrm>
          <a:prstGeom prst="line">
            <a:avLst/>
          </a:prstGeom>
          <a:ln w="12700">
            <a:solidFill>
              <a:srgbClr val="C0CFEA"/>
            </a:solidFill>
            <a:tailEnd type="triangle"/>
          </a:ln>
        </p:spPr>
        <p:txBody>
          <a:bodyPr lIns="45719" rIns="45719"/>
          <a:lstStyle/>
          <a:p>
            <a:endParaRPr/>
          </a:p>
        </p:txBody>
      </p:sp>
      <p:sp>
        <p:nvSpPr>
          <p:cNvPr id="171" name="Shape 41"/>
          <p:cNvSpPr/>
          <p:nvPr/>
        </p:nvSpPr>
        <p:spPr>
          <a:xfrm>
            <a:off x="3749040" y="3072383"/>
            <a:ext cx="2084833" cy="1"/>
          </a:xfrm>
          <a:prstGeom prst="line">
            <a:avLst/>
          </a:prstGeom>
          <a:ln w="12700">
            <a:solidFill>
              <a:srgbClr val="C0CFEA"/>
            </a:solidFill>
            <a:tailEnd type="triangle"/>
          </a:ln>
        </p:spPr>
        <p:txBody>
          <a:bodyPr lIns="45719" rIns="45719"/>
          <a:lstStyle/>
          <a:p>
            <a:endParaRPr/>
          </a:p>
        </p:txBody>
      </p:sp>
      <p:sp>
        <p:nvSpPr>
          <p:cNvPr id="172" name="Shape 42"/>
          <p:cNvSpPr/>
          <p:nvPr/>
        </p:nvSpPr>
        <p:spPr>
          <a:xfrm>
            <a:off x="6236208" y="2999232"/>
            <a:ext cx="1792225" cy="1"/>
          </a:xfrm>
          <a:prstGeom prst="line">
            <a:avLst/>
          </a:prstGeom>
          <a:ln w="12700">
            <a:solidFill>
              <a:srgbClr val="C0CFEA"/>
            </a:solidFill>
            <a:tailEnd type="triangle"/>
          </a:ln>
        </p:spPr>
        <p:txBody>
          <a:bodyPr lIns="45719" rIns="45719"/>
          <a:lstStyle/>
          <a:p>
            <a:endParaRPr/>
          </a:p>
        </p:txBody>
      </p:sp>
      <p:sp>
        <p:nvSpPr>
          <p:cNvPr id="173" name="Shape 43"/>
          <p:cNvSpPr/>
          <p:nvPr/>
        </p:nvSpPr>
        <p:spPr>
          <a:xfrm>
            <a:off x="384047" y="4645152"/>
            <a:ext cx="8375906" cy="274321"/>
          </a:xfrm>
          <a:prstGeom prst="rect">
            <a:avLst/>
          </a:prstGeom>
          <a:solidFill>
            <a:srgbClr val="D6E4F7"/>
          </a:solidFill>
          <a:ln w="12700">
            <a:solidFill>
              <a:srgbClr val="D6E4F7"/>
            </a:solidFill>
          </a:ln>
        </p:spPr>
        <p:txBody>
          <a:bodyPr lIns="45719" rIns="45719"/>
          <a:lstStyle/>
          <a:p>
            <a:endParaRPr/>
          </a:p>
        </p:txBody>
      </p:sp>
      <p:sp>
        <p:nvSpPr>
          <p:cNvPr id="174" name="Text 44"/>
          <p:cNvSpPr txBox="1"/>
          <p:nvPr/>
        </p:nvSpPr>
        <p:spPr>
          <a:xfrm>
            <a:off x="502919" y="4632101"/>
            <a:ext cx="8138162" cy="3004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700">
                <a:solidFill>
                  <a:srgbClr val="1F3A6E"/>
                </a:solidFill>
              </a:defRPr>
            </a:lvl1pPr>
          </a:lstStyle>
          <a:p>
            <a:r>
              <a:t>Training loop: 1  Forward pass — predict %Y from inputs   →   2  Compute error vs. actual experiment   →   3  Backpropagation — assign blame to weights   →   4  L-BFGS update — adjust all weights   →   5  Repeat until RMSE is minimised</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Shape 6"/>
          <p:cNvSpPr/>
          <p:nvPr/>
        </p:nvSpPr>
        <p:spPr>
          <a:xfrm>
            <a:off x="384047" y="1143811"/>
            <a:ext cx="8036336" cy="3527661"/>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46" name="Shape 0"/>
          <p:cNvSpPr/>
          <p:nvPr/>
        </p:nvSpPr>
        <p:spPr>
          <a:xfrm>
            <a:off x="0" y="0"/>
            <a:ext cx="9144000" cy="64008"/>
          </a:xfrm>
          <a:prstGeom prst="rect">
            <a:avLst/>
          </a:prstGeom>
          <a:solidFill>
            <a:srgbClr val="1F3A6E"/>
          </a:solidFill>
          <a:ln w="12700">
            <a:solidFill>
              <a:srgbClr val="1F3A6E"/>
            </a:solidFill>
          </a:ln>
        </p:spPr>
        <p:txBody>
          <a:bodyPr lIns="45719" rIns="45719"/>
          <a:lstStyle/>
          <a:p>
            <a:endParaRPr/>
          </a:p>
        </p:txBody>
      </p:sp>
      <p:sp>
        <p:nvSpPr>
          <p:cNvPr id="47" name="Shape 1"/>
          <p:cNvSpPr/>
          <p:nvPr/>
        </p:nvSpPr>
        <p:spPr>
          <a:xfrm>
            <a:off x="0" y="5074920"/>
            <a:ext cx="9144000" cy="68581"/>
          </a:xfrm>
          <a:prstGeom prst="rect">
            <a:avLst/>
          </a:prstGeom>
          <a:solidFill>
            <a:srgbClr val="1F3A6E"/>
          </a:solidFill>
          <a:ln w="12700">
            <a:solidFill>
              <a:srgbClr val="1F3A6E"/>
            </a:solidFill>
          </a:ln>
        </p:spPr>
        <p:txBody>
          <a:bodyPr lIns="45719" rIns="45719"/>
          <a:lstStyle/>
          <a:p>
            <a:endParaRPr/>
          </a:p>
        </p:txBody>
      </p:sp>
      <p:sp>
        <p:nvSpPr>
          <p:cNvPr id="48" name="Text 2"/>
          <p:cNvSpPr txBox="1"/>
          <p:nvPr/>
        </p:nvSpPr>
        <p:spPr>
          <a:xfrm>
            <a:off x="45719" y="4894615"/>
            <a:ext cx="9052562"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a:solidFill>
                  <a:srgbClr val="8A9BBB"/>
                </a:solidFill>
              </a:defRPr>
            </a:lvl1pPr>
          </a:lstStyle>
          <a:p>
            <a:r>
              <a:t>AI Minor Course  |  Department of Chemical Engineering  |  2025–2026</a:t>
            </a:r>
          </a:p>
        </p:txBody>
      </p:sp>
      <p:sp>
        <p:nvSpPr>
          <p:cNvPr id="49" name="Shape 3"/>
          <p:cNvSpPr/>
          <p:nvPr/>
        </p:nvSpPr>
        <p:spPr>
          <a:xfrm>
            <a:off x="384047" y="164592"/>
            <a:ext cx="969265" cy="256032"/>
          </a:xfrm>
          <a:prstGeom prst="roundRect">
            <a:avLst>
              <a:gd name="adj" fmla="val 21429"/>
            </a:avLst>
          </a:prstGeom>
          <a:solidFill>
            <a:srgbClr val="D6E4F7"/>
          </a:solidFill>
          <a:ln w="12700">
            <a:solidFill>
              <a:srgbClr val="2E6DB4"/>
            </a:solidFill>
          </a:ln>
        </p:spPr>
        <p:txBody>
          <a:bodyPr lIns="45719" rIns="45719"/>
          <a:lstStyle/>
          <a:p>
            <a:endParaRPr/>
          </a:p>
        </p:txBody>
      </p:sp>
      <p:sp>
        <p:nvSpPr>
          <p:cNvPr id="50" name="Text 4"/>
          <p:cNvSpPr txBox="1"/>
          <p:nvPr/>
        </p:nvSpPr>
        <p:spPr>
          <a:xfrm>
            <a:off x="429767" y="194599"/>
            <a:ext cx="877825"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b="1">
                <a:solidFill>
                  <a:srgbClr val="2E6DB4"/>
                </a:solidFill>
              </a:defRPr>
            </a:lvl1pPr>
          </a:lstStyle>
          <a:p>
            <a:r>
              <a:t>PS</a:t>
            </a:r>
          </a:p>
        </p:txBody>
      </p:sp>
      <p:sp>
        <p:nvSpPr>
          <p:cNvPr id="51" name="Text 5"/>
          <p:cNvSpPr txBox="1"/>
          <p:nvPr/>
        </p:nvSpPr>
        <p:spPr>
          <a:xfrm>
            <a:off x="384047" y="690996"/>
            <a:ext cx="8375906" cy="3462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600" b="1">
                <a:solidFill>
                  <a:srgbClr val="1F3A6E"/>
                </a:solidFill>
              </a:defRPr>
            </a:lvl1pPr>
          </a:lstStyle>
          <a:p>
            <a:r>
              <a:t>Problem Statement</a:t>
            </a:r>
          </a:p>
        </p:txBody>
      </p:sp>
      <p:sp>
        <p:nvSpPr>
          <p:cNvPr id="52" name="Liquid–liquid extraction involves complex nonlinear interactions between multiple process variables, making accurate modeling and optimization difficult using conventional methods. Artificial Neural Networks (ANN) can be used to predict and optimize extr"/>
          <p:cNvSpPr txBox="1"/>
          <p:nvPr/>
        </p:nvSpPr>
        <p:spPr>
          <a:xfrm>
            <a:off x="558500" y="1449182"/>
            <a:ext cx="7687431" cy="12545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457200">
              <a:defRPr sz="2000"/>
            </a:lvl1pPr>
          </a:lstStyle>
          <a:p>
            <a:r>
              <a:t>Liquid–liquid extraction involves complex nonlinear interactions between multiple process variables, making accurate modeling and optimization difficult using conventional methods. Artificial Neural Networks (ANN) can be used to predict and optimize extraction efficiency effectively.</a:t>
            </a:r>
          </a:p>
        </p:txBody>
      </p:sp>
    </p:spTree>
    <p:extLst>
      <p:ext uri="{BB962C8B-B14F-4D97-AF65-F5344CB8AC3E}">
        <p14:creationId xmlns:p14="http://schemas.microsoft.com/office/powerpoint/2010/main" val="405523027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Shape 0"/>
          <p:cNvSpPr/>
          <p:nvPr/>
        </p:nvSpPr>
        <p:spPr>
          <a:xfrm>
            <a:off x="0" y="0"/>
            <a:ext cx="9144000" cy="64008"/>
          </a:xfrm>
          <a:prstGeom prst="rect">
            <a:avLst/>
          </a:prstGeom>
          <a:solidFill>
            <a:srgbClr val="0D7377"/>
          </a:solidFill>
          <a:ln w="12700">
            <a:solidFill>
              <a:srgbClr val="0D7377"/>
            </a:solidFill>
          </a:ln>
        </p:spPr>
        <p:txBody>
          <a:bodyPr lIns="45719" rIns="45719"/>
          <a:lstStyle/>
          <a:p>
            <a:endParaRPr/>
          </a:p>
        </p:txBody>
      </p:sp>
      <p:sp>
        <p:nvSpPr>
          <p:cNvPr id="177" name="Shape 1"/>
          <p:cNvSpPr/>
          <p:nvPr/>
        </p:nvSpPr>
        <p:spPr>
          <a:xfrm>
            <a:off x="0" y="5074920"/>
            <a:ext cx="9144000" cy="68581"/>
          </a:xfrm>
          <a:prstGeom prst="rect">
            <a:avLst/>
          </a:prstGeom>
          <a:solidFill>
            <a:srgbClr val="1F3A6E"/>
          </a:solidFill>
          <a:ln w="12700">
            <a:solidFill>
              <a:srgbClr val="1F3A6E"/>
            </a:solidFill>
          </a:ln>
        </p:spPr>
        <p:txBody>
          <a:bodyPr lIns="45719" rIns="45719"/>
          <a:lstStyle/>
          <a:p>
            <a:endParaRPr/>
          </a:p>
        </p:txBody>
      </p:sp>
      <p:sp>
        <p:nvSpPr>
          <p:cNvPr id="178" name="Text 2"/>
          <p:cNvSpPr txBox="1"/>
          <p:nvPr/>
        </p:nvSpPr>
        <p:spPr>
          <a:xfrm>
            <a:off x="45719" y="4894615"/>
            <a:ext cx="9052562"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a:solidFill>
                  <a:srgbClr val="8A9BBB"/>
                </a:solidFill>
              </a:defRPr>
            </a:lvl1pPr>
          </a:lstStyle>
          <a:p>
            <a:r>
              <a:t>AI Minor Course  |  Department of Chemical Engineering  |  2025–2026</a:t>
            </a:r>
          </a:p>
        </p:txBody>
      </p:sp>
      <p:sp>
        <p:nvSpPr>
          <p:cNvPr id="179" name="Shape 3"/>
          <p:cNvSpPr/>
          <p:nvPr/>
        </p:nvSpPr>
        <p:spPr>
          <a:xfrm>
            <a:off x="384047" y="164592"/>
            <a:ext cx="1143001" cy="256032"/>
          </a:xfrm>
          <a:prstGeom prst="roundRect">
            <a:avLst>
              <a:gd name="adj" fmla="val 21429"/>
            </a:avLst>
          </a:prstGeom>
          <a:solidFill>
            <a:srgbClr val="D6E4F7"/>
          </a:solidFill>
          <a:ln w="12700">
            <a:solidFill>
              <a:srgbClr val="2E6DB4"/>
            </a:solidFill>
          </a:ln>
        </p:spPr>
        <p:txBody>
          <a:bodyPr lIns="45719" rIns="45719"/>
          <a:lstStyle/>
          <a:p>
            <a:endParaRPr/>
          </a:p>
        </p:txBody>
      </p:sp>
      <p:sp>
        <p:nvSpPr>
          <p:cNvPr id="180" name="Text 4"/>
          <p:cNvSpPr txBox="1"/>
          <p:nvPr/>
        </p:nvSpPr>
        <p:spPr>
          <a:xfrm>
            <a:off x="429767" y="194599"/>
            <a:ext cx="1051561"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b="1">
                <a:solidFill>
                  <a:srgbClr val="2E6DB4"/>
                </a:solidFill>
              </a:defRPr>
            </a:lvl1pPr>
          </a:lstStyle>
          <a:p>
            <a:r>
              <a:t>CASE STUDY</a:t>
            </a:r>
          </a:p>
        </p:txBody>
      </p:sp>
      <p:sp>
        <p:nvSpPr>
          <p:cNvPr id="181" name="Text 5"/>
          <p:cNvSpPr txBox="1"/>
          <p:nvPr/>
        </p:nvSpPr>
        <p:spPr>
          <a:xfrm>
            <a:off x="384047" y="690996"/>
            <a:ext cx="8375906" cy="3462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600" b="1">
                <a:solidFill>
                  <a:srgbClr val="1F3A6E"/>
                </a:solidFill>
              </a:defRPr>
            </a:lvl1pPr>
          </a:lstStyle>
          <a:p>
            <a:r>
              <a:t>Reactive Extraction of Itaconic Acid</a:t>
            </a:r>
          </a:p>
        </p:txBody>
      </p:sp>
      <p:sp>
        <p:nvSpPr>
          <p:cNvPr id="182" name="Shape 6"/>
          <p:cNvSpPr/>
          <p:nvPr/>
        </p:nvSpPr>
        <p:spPr>
          <a:xfrm>
            <a:off x="384047" y="1389887"/>
            <a:ext cx="4206242" cy="1353314"/>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183" name="Shape 7"/>
          <p:cNvSpPr/>
          <p:nvPr/>
        </p:nvSpPr>
        <p:spPr>
          <a:xfrm>
            <a:off x="384047" y="1389887"/>
            <a:ext cx="54865" cy="1353314"/>
          </a:xfrm>
          <a:prstGeom prst="rect">
            <a:avLst/>
          </a:prstGeom>
          <a:solidFill>
            <a:srgbClr val="0D7377"/>
          </a:solidFill>
          <a:ln w="12700">
            <a:solidFill>
              <a:srgbClr val="0D7377"/>
            </a:solidFill>
          </a:ln>
        </p:spPr>
        <p:txBody>
          <a:bodyPr lIns="45719" rIns="45719"/>
          <a:lstStyle/>
          <a:p>
            <a:endParaRPr/>
          </a:p>
        </p:txBody>
      </p:sp>
      <p:sp>
        <p:nvSpPr>
          <p:cNvPr id="184" name="Text 8"/>
          <p:cNvSpPr txBox="1"/>
          <p:nvPr/>
        </p:nvSpPr>
        <p:spPr>
          <a:xfrm>
            <a:off x="594360" y="1488852"/>
            <a:ext cx="3749040" cy="1861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700" b="1" spc="100">
                <a:solidFill>
                  <a:srgbClr val="8A9BBB"/>
                </a:solidFill>
              </a:defRPr>
            </a:lvl1pPr>
          </a:lstStyle>
          <a:p>
            <a:r>
              <a:t>TARGET SOLUTE</a:t>
            </a:r>
          </a:p>
        </p:txBody>
      </p:sp>
      <p:sp>
        <p:nvSpPr>
          <p:cNvPr id="185" name="Text 9"/>
          <p:cNvSpPr txBox="1"/>
          <p:nvPr/>
        </p:nvSpPr>
        <p:spPr>
          <a:xfrm>
            <a:off x="594360" y="1695503"/>
            <a:ext cx="3749040" cy="2483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b="1">
                <a:solidFill>
                  <a:srgbClr val="1F3A6E"/>
                </a:solidFill>
              </a:defRPr>
            </a:lvl1pPr>
          </a:lstStyle>
          <a:p>
            <a:r>
              <a:t>Itaconic Acid (IA)</a:t>
            </a:r>
          </a:p>
        </p:txBody>
      </p:sp>
      <p:sp>
        <p:nvSpPr>
          <p:cNvPr id="186" name="Text 10"/>
          <p:cNvSpPr txBox="1"/>
          <p:nvPr/>
        </p:nvSpPr>
        <p:spPr>
          <a:xfrm>
            <a:off x="594360" y="2149769"/>
            <a:ext cx="3749040" cy="3456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3A4A6A"/>
                </a:solidFill>
              </a:defRPr>
            </a:lvl1pPr>
          </a:lstStyle>
          <a:p>
            <a:r>
              <a:t>Bio-based dicarboxylic acid from fungal fermentation. Used in adhesives, fibres, polymers.</a:t>
            </a:r>
          </a:p>
        </p:txBody>
      </p:sp>
      <p:sp>
        <p:nvSpPr>
          <p:cNvPr id="187" name="Shape 11"/>
          <p:cNvSpPr/>
          <p:nvPr/>
        </p:nvSpPr>
        <p:spPr>
          <a:xfrm>
            <a:off x="4864608" y="1389887"/>
            <a:ext cx="4206241" cy="1353314"/>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188" name="Shape 12"/>
          <p:cNvSpPr/>
          <p:nvPr/>
        </p:nvSpPr>
        <p:spPr>
          <a:xfrm>
            <a:off x="4864608" y="1389887"/>
            <a:ext cx="54865" cy="1353314"/>
          </a:xfrm>
          <a:prstGeom prst="rect">
            <a:avLst/>
          </a:prstGeom>
          <a:solidFill>
            <a:srgbClr val="0D7377"/>
          </a:solidFill>
          <a:ln w="12700">
            <a:solidFill>
              <a:srgbClr val="0D7377"/>
            </a:solidFill>
          </a:ln>
        </p:spPr>
        <p:txBody>
          <a:bodyPr lIns="45719" rIns="45719"/>
          <a:lstStyle/>
          <a:p>
            <a:endParaRPr/>
          </a:p>
        </p:txBody>
      </p:sp>
      <p:sp>
        <p:nvSpPr>
          <p:cNvPr id="189" name="Text 13"/>
          <p:cNvSpPr txBox="1"/>
          <p:nvPr/>
        </p:nvSpPr>
        <p:spPr>
          <a:xfrm>
            <a:off x="5074920" y="1488852"/>
            <a:ext cx="3749040" cy="1861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700" b="1" spc="100">
                <a:solidFill>
                  <a:srgbClr val="8A9BBB"/>
                </a:solidFill>
              </a:defRPr>
            </a:lvl1pPr>
          </a:lstStyle>
          <a:p>
            <a:r>
              <a:t>EXTRACTANT</a:t>
            </a:r>
          </a:p>
        </p:txBody>
      </p:sp>
      <p:sp>
        <p:nvSpPr>
          <p:cNvPr id="190" name="Text 14"/>
          <p:cNvSpPr txBox="1"/>
          <p:nvPr/>
        </p:nvSpPr>
        <p:spPr>
          <a:xfrm>
            <a:off x="5074920" y="1695503"/>
            <a:ext cx="3749040" cy="2483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b="1">
                <a:solidFill>
                  <a:srgbClr val="1F3A6E"/>
                </a:solidFill>
              </a:defRPr>
            </a:lvl1pPr>
          </a:lstStyle>
          <a:p>
            <a:r>
              <a:t>TOA  (tri-n-octylamine)</a:t>
            </a:r>
          </a:p>
        </p:txBody>
      </p:sp>
      <p:sp>
        <p:nvSpPr>
          <p:cNvPr id="191" name="Text 15"/>
          <p:cNvSpPr txBox="1"/>
          <p:nvPr/>
        </p:nvSpPr>
        <p:spPr>
          <a:xfrm>
            <a:off x="5074920" y="2209101"/>
            <a:ext cx="3749040" cy="2269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3A4A6A"/>
                </a:solidFill>
              </a:defRPr>
            </a:lvl1pPr>
          </a:lstStyle>
          <a:p>
            <a:r>
              <a:t>Reacts chemically with IA to form organic-phase complex: HA + TOA ⇌ TOA·HA</a:t>
            </a:r>
          </a:p>
        </p:txBody>
      </p:sp>
      <p:sp>
        <p:nvSpPr>
          <p:cNvPr id="192" name="Shape 16"/>
          <p:cNvSpPr/>
          <p:nvPr/>
        </p:nvSpPr>
        <p:spPr>
          <a:xfrm>
            <a:off x="384047" y="2898648"/>
            <a:ext cx="4206242" cy="1353313"/>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193" name="Shape 17"/>
          <p:cNvSpPr/>
          <p:nvPr/>
        </p:nvSpPr>
        <p:spPr>
          <a:xfrm>
            <a:off x="384047" y="2898648"/>
            <a:ext cx="54865" cy="1353313"/>
          </a:xfrm>
          <a:prstGeom prst="rect">
            <a:avLst/>
          </a:prstGeom>
          <a:solidFill>
            <a:srgbClr val="2E6DB4"/>
          </a:solidFill>
          <a:ln w="12700">
            <a:solidFill>
              <a:srgbClr val="2E6DB4"/>
            </a:solidFill>
          </a:ln>
        </p:spPr>
        <p:txBody>
          <a:bodyPr lIns="45719" rIns="45719"/>
          <a:lstStyle/>
          <a:p>
            <a:endParaRPr/>
          </a:p>
        </p:txBody>
      </p:sp>
      <p:sp>
        <p:nvSpPr>
          <p:cNvPr id="194" name="Text 18"/>
          <p:cNvSpPr txBox="1"/>
          <p:nvPr/>
        </p:nvSpPr>
        <p:spPr>
          <a:xfrm>
            <a:off x="594360" y="2997612"/>
            <a:ext cx="3749040" cy="1861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700" b="1" spc="100">
                <a:solidFill>
                  <a:srgbClr val="8A9BBB"/>
                </a:solidFill>
              </a:defRPr>
            </a:lvl1pPr>
          </a:lstStyle>
          <a:p>
            <a:r>
              <a:t>MODIFIER</a:t>
            </a:r>
          </a:p>
        </p:txBody>
      </p:sp>
      <p:sp>
        <p:nvSpPr>
          <p:cNvPr id="195" name="Text 19"/>
          <p:cNvSpPr txBox="1"/>
          <p:nvPr/>
        </p:nvSpPr>
        <p:spPr>
          <a:xfrm>
            <a:off x="594360" y="3204263"/>
            <a:ext cx="3749040" cy="2483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b="1">
                <a:solidFill>
                  <a:srgbClr val="1F3A6E"/>
                </a:solidFill>
              </a:defRPr>
            </a:lvl1pPr>
          </a:lstStyle>
          <a:p>
            <a:r>
              <a:t>DCM  (dichloromethane)</a:t>
            </a:r>
          </a:p>
        </p:txBody>
      </p:sp>
      <p:sp>
        <p:nvSpPr>
          <p:cNvPr id="196" name="Text 20"/>
          <p:cNvSpPr txBox="1"/>
          <p:nvPr/>
        </p:nvSpPr>
        <p:spPr>
          <a:xfrm>
            <a:off x="594360" y="3728379"/>
            <a:ext cx="3749040"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3A4A6A"/>
                </a:solidFill>
              </a:defRPr>
            </a:lvl1pPr>
          </a:lstStyle>
          <a:p>
            <a:r>
              <a:t>Improves solvation of extracted complex; prevents third-phase formation</a:t>
            </a:r>
          </a:p>
        </p:txBody>
      </p:sp>
      <p:sp>
        <p:nvSpPr>
          <p:cNvPr id="197" name="Shape 21"/>
          <p:cNvSpPr/>
          <p:nvPr/>
        </p:nvSpPr>
        <p:spPr>
          <a:xfrm>
            <a:off x="4864608" y="2898648"/>
            <a:ext cx="4206241" cy="1353313"/>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198" name="Shape 22"/>
          <p:cNvSpPr/>
          <p:nvPr/>
        </p:nvSpPr>
        <p:spPr>
          <a:xfrm>
            <a:off x="4864608" y="2898648"/>
            <a:ext cx="54865" cy="1353313"/>
          </a:xfrm>
          <a:prstGeom prst="rect">
            <a:avLst/>
          </a:prstGeom>
          <a:solidFill>
            <a:srgbClr val="2E6DB4"/>
          </a:solidFill>
          <a:ln w="12700">
            <a:solidFill>
              <a:srgbClr val="2E6DB4"/>
            </a:solidFill>
          </a:ln>
        </p:spPr>
        <p:txBody>
          <a:bodyPr lIns="45719" rIns="45719"/>
          <a:lstStyle/>
          <a:p>
            <a:endParaRPr/>
          </a:p>
        </p:txBody>
      </p:sp>
      <p:sp>
        <p:nvSpPr>
          <p:cNvPr id="199" name="Text 23"/>
          <p:cNvSpPr txBox="1"/>
          <p:nvPr/>
        </p:nvSpPr>
        <p:spPr>
          <a:xfrm>
            <a:off x="5074920" y="2997612"/>
            <a:ext cx="3749040" cy="1861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700" b="1" spc="100">
                <a:solidFill>
                  <a:srgbClr val="8A9BBB"/>
                </a:solidFill>
              </a:defRPr>
            </a:lvl1pPr>
          </a:lstStyle>
          <a:p>
            <a:r>
              <a:t>OPTIMIZER</a:t>
            </a:r>
          </a:p>
        </p:txBody>
      </p:sp>
      <p:sp>
        <p:nvSpPr>
          <p:cNvPr id="200" name="Text 24"/>
          <p:cNvSpPr txBox="1"/>
          <p:nvPr/>
        </p:nvSpPr>
        <p:spPr>
          <a:xfrm>
            <a:off x="5074920" y="3204263"/>
            <a:ext cx="3749040" cy="2483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b="1">
                <a:solidFill>
                  <a:srgbClr val="1F3A6E"/>
                </a:solidFill>
              </a:defRPr>
            </a:lvl1pPr>
          </a:lstStyle>
          <a:p>
            <a:r>
              <a:t>ANN + Differential Evolution</a:t>
            </a:r>
          </a:p>
        </p:txBody>
      </p:sp>
      <p:sp>
        <p:nvSpPr>
          <p:cNvPr id="201" name="Text 25"/>
          <p:cNvSpPr txBox="1"/>
          <p:nvPr/>
        </p:nvSpPr>
        <p:spPr>
          <a:xfrm>
            <a:off x="5074920" y="3728379"/>
            <a:ext cx="3749040"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3A4A6A"/>
                </a:solidFill>
              </a:defRPr>
            </a:lvl1pPr>
          </a:lstStyle>
          <a:p>
            <a:r>
              <a:t>ANN trained on 1,200 data points; DE searches for max %Y automatically</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Shape 0"/>
          <p:cNvSpPr/>
          <p:nvPr/>
        </p:nvSpPr>
        <p:spPr>
          <a:xfrm>
            <a:off x="0" y="0"/>
            <a:ext cx="9144000" cy="64008"/>
          </a:xfrm>
          <a:prstGeom prst="rect">
            <a:avLst/>
          </a:prstGeom>
          <a:solidFill>
            <a:srgbClr val="1F3A6E"/>
          </a:solidFill>
          <a:ln w="12700">
            <a:solidFill>
              <a:srgbClr val="1F3A6E"/>
            </a:solidFill>
          </a:ln>
        </p:spPr>
        <p:txBody>
          <a:bodyPr lIns="45719" rIns="45719"/>
          <a:lstStyle/>
          <a:p>
            <a:endParaRPr/>
          </a:p>
        </p:txBody>
      </p:sp>
      <p:sp>
        <p:nvSpPr>
          <p:cNvPr id="204" name="Shape 1"/>
          <p:cNvSpPr/>
          <p:nvPr/>
        </p:nvSpPr>
        <p:spPr>
          <a:xfrm>
            <a:off x="0" y="5074920"/>
            <a:ext cx="9144000" cy="68581"/>
          </a:xfrm>
          <a:prstGeom prst="rect">
            <a:avLst/>
          </a:prstGeom>
          <a:solidFill>
            <a:srgbClr val="1F3A6E"/>
          </a:solidFill>
          <a:ln w="12700">
            <a:solidFill>
              <a:srgbClr val="1F3A6E"/>
            </a:solidFill>
          </a:ln>
        </p:spPr>
        <p:txBody>
          <a:bodyPr lIns="45719" rIns="45719"/>
          <a:lstStyle/>
          <a:p>
            <a:endParaRPr/>
          </a:p>
        </p:txBody>
      </p:sp>
      <p:sp>
        <p:nvSpPr>
          <p:cNvPr id="205" name="Text 2"/>
          <p:cNvSpPr txBox="1"/>
          <p:nvPr/>
        </p:nvSpPr>
        <p:spPr>
          <a:xfrm>
            <a:off x="45719" y="4894615"/>
            <a:ext cx="9052562"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a:solidFill>
                  <a:srgbClr val="8A9BBB"/>
                </a:solidFill>
              </a:defRPr>
            </a:lvl1pPr>
          </a:lstStyle>
          <a:p>
            <a:r>
              <a:t>AI Minor Course  |  Department of Chemical Engineering  |  2025–2026</a:t>
            </a:r>
          </a:p>
        </p:txBody>
      </p:sp>
      <p:sp>
        <p:nvSpPr>
          <p:cNvPr id="206" name="Shape 3"/>
          <p:cNvSpPr/>
          <p:nvPr/>
        </p:nvSpPr>
        <p:spPr>
          <a:xfrm>
            <a:off x="384047" y="164592"/>
            <a:ext cx="1837946" cy="256032"/>
          </a:xfrm>
          <a:prstGeom prst="roundRect">
            <a:avLst>
              <a:gd name="adj" fmla="val 21429"/>
            </a:avLst>
          </a:prstGeom>
          <a:solidFill>
            <a:srgbClr val="D6E4F7"/>
          </a:solidFill>
          <a:ln w="12700">
            <a:solidFill>
              <a:srgbClr val="2E6DB4"/>
            </a:solidFill>
          </a:ln>
        </p:spPr>
        <p:txBody>
          <a:bodyPr lIns="45719" rIns="45719"/>
          <a:lstStyle/>
          <a:p>
            <a:endParaRPr/>
          </a:p>
        </p:txBody>
      </p:sp>
      <p:sp>
        <p:nvSpPr>
          <p:cNvPr id="207" name="Text 4"/>
          <p:cNvSpPr txBox="1"/>
          <p:nvPr/>
        </p:nvSpPr>
        <p:spPr>
          <a:xfrm>
            <a:off x="429767" y="194599"/>
            <a:ext cx="1746506"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b="1">
                <a:solidFill>
                  <a:srgbClr val="2E6DB4"/>
                </a:solidFill>
              </a:defRPr>
            </a:lvl1pPr>
          </a:lstStyle>
          <a:p>
            <a:r>
              <a:t>PIPELINE &amp; RESULTS</a:t>
            </a:r>
          </a:p>
        </p:txBody>
      </p:sp>
      <p:sp>
        <p:nvSpPr>
          <p:cNvPr id="208" name="Text 5"/>
          <p:cNvSpPr txBox="1"/>
          <p:nvPr/>
        </p:nvSpPr>
        <p:spPr>
          <a:xfrm>
            <a:off x="384047" y="690996"/>
            <a:ext cx="8375906" cy="3462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600" b="1">
                <a:solidFill>
                  <a:srgbClr val="1F3A6E"/>
                </a:solidFill>
              </a:defRPr>
            </a:lvl1pPr>
          </a:lstStyle>
          <a:p>
            <a:r>
              <a:t>ANN Pipeline and Model Performance</a:t>
            </a:r>
          </a:p>
        </p:txBody>
      </p:sp>
      <p:sp>
        <p:nvSpPr>
          <p:cNvPr id="209" name="Shape 6"/>
          <p:cNvSpPr/>
          <p:nvPr/>
        </p:nvSpPr>
        <p:spPr>
          <a:xfrm>
            <a:off x="384047" y="1353311"/>
            <a:ext cx="1481329" cy="749809"/>
          </a:xfrm>
          <a:prstGeom prst="roundRect">
            <a:avLst>
              <a:gd name="adj" fmla="val 12195"/>
            </a:avLst>
          </a:prstGeom>
          <a:solidFill>
            <a:srgbClr val="1F3A6E"/>
          </a:solidFill>
          <a:ln w="12700">
            <a:solidFill>
              <a:srgbClr val="1F3A6E"/>
            </a:solidFill>
          </a:ln>
        </p:spPr>
        <p:txBody>
          <a:bodyPr lIns="45719" rIns="45719"/>
          <a:lstStyle/>
          <a:p>
            <a:endParaRPr/>
          </a:p>
        </p:txBody>
      </p:sp>
      <p:sp>
        <p:nvSpPr>
          <p:cNvPr id="210" name="Text 7"/>
          <p:cNvSpPr txBox="1"/>
          <p:nvPr/>
        </p:nvSpPr>
        <p:spPr>
          <a:xfrm>
            <a:off x="429767" y="1555409"/>
            <a:ext cx="1389889" cy="3456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p>
            <a:pPr algn="ctr">
              <a:defRPr sz="900" b="1">
                <a:solidFill>
                  <a:srgbClr val="FFFFFF"/>
                </a:solidFill>
              </a:defRPr>
            </a:pPr>
            <a:r>
              <a:t>Generate</a:t>
            </a:r>
          </a:p>
          <a:p>
            <a:pPr algn="ctr">
              <a:defRPr sz="900" b="1">
                <a:solidFill>
                  <a:srgbClr val="FFFFFF"/>
                </a:solidFill>
              </a:defRPr>
            </a:pPr>
            <a:r>
              <a:t>1,200 Samples</a:t>
            </a:r>
          </a:p>
        </p:txBody>
      </p:sp>
      <p:sp>
        <p:nvSpPr>
          <p:cNvPr id="211" name="Shape 8"/>
          <p:cNvSpPr/>
          <p:nvPr/>
        </p:nvSpPr>
        <p:spPr>
          <a:xfrm>
            <a:off x="1865376" y="1728216"/>
            <a:ext cx="201169" cy="1"/>
          </a:xfrm>
          <a:prstGeom prst="line">
            <a:avLst/>
          </a:prstGeom>
          <a:ln w="12700">
            <a:solidFill>
              <a:srgbClr val="8A9BBB"/>
            </a:solidFill>
            <a:tailEnd type="triangle"/>
          </a:ln>
        </p:spPr>
        <p:txBody>
          <a:bodyPr lIns="45719" rIns="45719"/>
          <a:lstStyle/>
          <a:p>
            <a:endParaRPr/>
          </a:p>
        </p:txBody>
      </p:sp>
      <p:sp>
        <p:nvSpPr>
          <p:cNvPr id="212" name="Shape 9"/>
          <p:cNvSpPr/>
          <p:nvPr/>
        </p:nvSpPr>
        <p:spPr>
          <a:xfrm>
            <a:off x="2066544" y="1353311"/>
            <a:ext cx="1481329" cy="749809"/>
          </a:xfrm>
          <a:prstGeom prst="roundRect">
            <a:avLst>
              <a:gd name="adj" fmla="val 12195"/>
            </a:avLst>
          </a:prstGeom>
          <a:solidFill>
            <a:srgbClr val="2E6DB4"/>
          </a:solidFill>
          <a:ln w="12700">
            <a:solidFill>
              <a:srgbClr val="2E6DB4"/>
            </a:solidFill>
          </a:ln>
        </p:spPr>
        <p:txBody>
          <a:bodyPr lIns="45719" rIns="45719"/>
          <a:lstStyle/>
          <a:p>
            <a:endParaRPr/>
          </a:p>
        </p:txBody>
      </p:sp>
      <p:sp>
        <p:nvSpPr>
          <p:cNvPr id="213" name="Text 10"/>
          <p:cNvSpPr txBox="1"/>
          <p:nvPr/>
        </p:nvSpPr>
        <p:spPr>
          <a:xfrm>
            <a:off x="2112264" y="1555409"/>
            <a:ext cx="1389889" cy="3456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p>
            <a:pPr algn="ctr">
              <a:defRPr sz="900" b="1">
                <a:solidFill>
                  <a:srgbClr val="FFFFFF"/>
                </a:solidFill>
              </a:defRPr>
            </a:pPr>
            <a:r>
              <a:t>Normalize</a:t>
            </a:r>
          </a:p>
          <a:p>
            <a:pPr algn="ctr">
              <a:defRPr sz="900" b="1">
                <a:solidFill>
                  <a:srgbClr val="FFFFFF"/>
                </a:solidFill>
              </a:defRPr>
            </a:pPr>
            <a:r>
              <a:t>Inputs [0,1]</a:t>
            </a:r>
          </a:p>
        </p:txBody>
      </p:sp>
      <p:sp>
        <p:nvSpPr>
          <p:cNvPr id="214" name="Shape 11"/>
          <p:cNvSpPr/>
          <p:nvPr/>
        </p:nvSpPr>
        <p:spPr>
          <a:xfrm>
            <a:off x="3547871" y="1728216"/>
            <a:ext cx="201169" cy="1"/>
          </a:xfrm>
          <a:prstGeom prst="line">
            <a:avLst/>
          </a:prstGeom>
          <a:ln w="12700">
            <a:solidFill>
              <a:srgbClr val="8A9BBB"/>
            </a:solidFill>
            <a:tailEnd type="triangle"/>
          </a:ln>
        </p:spPr>
        <p:txBody>
          <a:bodyPr lIns="45719" rIns="45719"/>
          <a:lstStyle/>
          <a:p>
            <a:endParaRPr/>
          </a:p>
        </p:txBody>
      </p:sp>
      <p:sp>
        <p:nvSpPr>
          <p:cNvPr id="215" name="Shape 12"/>
          <p:cNvSpPr/>
          <p:nvPr/>
        </p:nvSpPr>
        <p:spPr>
          <a:xfrm>
            <a:off x="3749040" y="1353311"/>
            <a:ext cx="1481329" cy="749809"/>
          </a:xfrm>
          <a:prstGeom prst="roundRect">
            <a:avLst>
              <a:gd name="adj" fmla="val 12195"/>
            </a:avLst>
          </a:prstGeom>
          <a:solidFill>
            <a:srgbClr val="0D7377"/>
          </a:solidFill>
          <a:ln w="12700">
            <a:solidFill>
              <a:srgbClr val="0D7377"/>
            </a:solidFill>
          </a:ln>
        </p:spPr>
        <p:txBody>
          <a:bodyPr lIns="45719" rIns="45719"/>
          <a:lstStyle/>
          <a:p>
            <a:endParaRPr/>
          </a:p>
        </p:txBody>
      </p:sp>
      <p:sp>
        <p:nvSpPr>
          <p:cNvPr id="216" name="Text 13"/>
          <p:cNvSpPr txBox="1"/>
          <p:nvPr/>
        </p:nvSpPr>
        <p:spPr>
          <a:xfrm>
            <a:off x="3794760" y="1555409"/>
            <a:ext cx="1389889" cy="3456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p>
            <a:pPr algn="ctr">
              <a:defRPr sz="900" b="1">
                <a:solidFill>
                  <a:srgbClr val="FFFFFF"/>
                </a:solidFill>
              </a:defRPr>
            </a:pPr>
            <a:r>
              <a:t>Train ANN</a:t>
            </a:r>
          </a:p>
          <a:p>
            <a:pPr algn="ctr">
              <a:defRPr sz="900" b="1">
                <a:solidFill>
                  <a:srgbClr val="FFFFFF"/>
                </a:solidFill>
              </a:defRPr>
            </a:pPr>
            <a:r>
              <a:t>5→15→10→1</a:t>
            </a:r>
          </a:p>
        </p:txBody>
      </p:sp>
      <p:sp>
        <p:nvSpPr>
          <p:cNvPr id="217" name="Shape 14"/>
          <p:cNvSpPr/>
          <p:nvPr/>
        </p:nvSpPr>
        <p:spPr>
          <a:xfrm>
            <a:off x="5230367" y="1728216"/>
            <a:ext cx="201169" cy="1"/>
          </a:xfrm>
          <a:prstGeom prst="line">
            <a:avLst/>
          </a:prstGeom>
          <a:ln w="12700">
            <a:solidFill>
              <a:srgbClr val="8A9BBB"/>
            </a:solidFill>
            <a:tailEnd type="triangle"/>
          </a:ln>
        </p:spPr>
        <p:txBody>
          <a:bodyPr lIns="45719" rIns="45719"/>
          <a:lstStyle/>
          <a:p>
            <a:endParaRPr/>
          </a:p>
        </p:txBody>
      </p:sp>
      <p:sp>
        <p:nvSpPr>
          <p:cNvPr id="218" name="Shape 15"/>
          <p:cNvSpPr/>
          <p:nvPr/>
        </p:nvSpPr>
        <p:spPr>
          <a:xfrm>
            <a:off x="5431535" y="1353311"/>
            <a:ext cx="1481329" cy="749809"/>
          </a:xfrm>
          <a:prstGeom prst="roundRect">
            <a:avLst>
              <a:gd name="adj" fmla="val 12195"/>
            </a:avLst>
          </a:prstGeom>
          <a:solidFill>
            <a:srgbClr val="E8A838"/>
          </a:solidFill>
          <a:ln w="12700">
            <a:solidFill>
              <a:srgbClr val="E8A838"/>
            </a:solidFill>
          </a:ln>
        </p:spPr>
        <p:txBody>
          <a:bodyPr lIns="45719" rIns="45719"/>
          <a:lstStyle/>
          <a:p>
            <a:endParaRPr/>
          </a:p>
        </p:txBody>
      </p:sp>
      <p:sp>
        <p:nvSpPr>
          <p:cNvPr id="219" name="Text 16"/>
          <p:cNvSpPr txBox="1"/>
          <p:nvPr/>
        </p:nvSpPr>
        <p:spPr>
          <a:xfrm>
            <a:off x="5477255" y="1555409"/>
            <a:ext cx="1389889" cy="3456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p>
            <a:pPr algn="ctr">
              <a:defRPr sz="900" b="1">
                <a:solidFill>
                  <a:srgbClr val="FFFFFF"/>
                </a:solidFill>
              </a:defRPr>
            </a:pPr>
            <a:r>
              <a:t>Validate</a:t>
            </a:r>
          </a:p>
          <a:p>
            <a:pPr algn="ctr">
              <a:defRPr sz="900" b="1">
                <a:solidFill>
                  <a:srgbClr val="FFFFFF"/>
                </a:solidFill>
              </a:defRPr>
            </a:pPr>
            <a:r>
              <a:t>15% Test Set</a:t>
            </a:r>
          </a:p>
        </p:txBody>
      </p:sp>
      <p:sp>
        <p:nvSpPr>
          <p:cNvPr id="220" name="Shape 17"/>
          <p:cNvSpPr/>
          <p:nvPr/>
        </p:nvSpPr>
        <p:spPr>
          <a:xfrm>
            <a:off x="6912864" y="1728216"/>
            <a:ext cx="201169" cy="1"/>
          </a:xfrm>
          <a:prstGeom prst="line">
            <a:avLst/>
          </a:prstGeom>
          <a:ln w="12700">
            <a:solidFill>
              <a:srgbClr val="8A9BBB"/>
            </a:solidFill>
            <a:tailEnd type="triangle"/>
          </a:ln>
        </p:spPr>
        <p:txBody>
          <a:bodyPr lIns="45719" rIns="45719"/>
          <a:lstStyle/>
          <a:p>
            <a:endParaRPr/>
          </a:p>
        </p:txBody>
      </p:sp>
      <p:sp>
        <p:nvSpPr>
          <p:cNvPr id="221" name="Shape 18"/>
          <p:cNvSpPr/>
          <p:nvPr/>
        </p:nvSpPr>
        <p:spPr>
          <a:xfrm>
            <a:off x="7114031" y="1353311"/>
            <a:ext cx="1481329" cy="749809"/>
          </a:xfrm>
          <a:prstGeom prst="roundRect">
            <a:avLst>
              <a:gd name="adj" fmla="val 12195"/>
            </a:avLst>
          </a:prstGeom>
          <a:solidFill>
            <a:srgbClr val="1B7A4E"/>
          </a:solidFill>
          <a:ln w="12700">
            <a:solidFill>
              <a:srgbClr val="1B7A4E"/>
            </a:solidFill>
          </a:ln>
        </p:spPr>
        <p:txBody>
          <a:bodyPr lIns="45719" rIns="45719"/>
          <a:lstStyle/>
          <a:p>
            <a:endParaRPr/>
          </a:p>
        </p:txBody>
      </p:sp>
      <p:sp>
        <p:nvSpPr>
          <p:cNvPr id="222" name="Text 19"/>
          <p:cNvSpPr txBox="1"/>
          <p:nvPr/>
        </p:nvSpPr>
        <p:spPr>
          <a:xfrm>
            <a:off x="7159751" y="1555409"/>
            <a:ext cx="1389889" cy="3456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p>
            <a:pPr algn="ctr">
              <a:defRPr sz="900" b="1">
                <a:solidFill>
                  <a:srgbClr val="FFFFFF"/>
                </a:solidFill>
              </a:defRPr>
            </a:pPr>
            <a:r>
              <a:t>Optimize</a:t>
            </a:r>
          </a:p>
          <a:p>
            <a:pPr algn="ctr">
              <a:defRPr sz="900" b="1">
                <a:solidFill>
                  <a:srgbClr val="FFFFFF"/>
                </a:solidFill>
              </a:defRPr>
            </a:pPr>
            <a:r>
              <a:t>Diff. Evolution</a:t>
            </a:r>
          </a:p>
        </p:txBody>
      </p:sp>
      <p:sp>
        <p:nvSpPr>
          <p:cNvPr id="223" name="Shape 20"/>
          <p:cNvSpPr/>
          <p:nvPr/>
        </p:nvSpPr>
        <p:spPr>
          <a:xfrm>
            <a:off x="384047" y="2304288"/>
            <a:ext cx="1993394" cy="914401"/>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224" name="Shape 21"/>
          <p:cNvSpPr/>
          <p:nvPr/>
        </p:nvSpPr>
        <p:spPr>
          <a:xfrm>
            <a:off x="384047" y="2304288"/>
            <a:ext cx="1993394" cy="59436"/>
          </a:xfrm>
          <a:prstGeom prst="rect">
            <a:avLst/>
          </a:prstGeom>
          <a:solidFill>
            <a:srgbClr val="1B7A4E"/>
          </a:solidFill>
          <a:ln w="12700">
            <a:solidFill>
              <a:srgbClr val="1B7A4E"/>
            </a:solidFill>
          </a:ln>
        </p:spPr>
        <p:txBody>
          <a:bodyPr lIns="45719" rIns="45719"/>
          <a:lstStyle/>
          <a:p>
            <a:endParaRPr/>
          </a:p>
        </p:txBody>
      </p:sp>
      <p:sp>
        <p:nvSpPr>
          <p:cNvPr id="225" name="Text 22"/>
          <p:cNvSpPr txBox="1"/>
          <p:nvPr/>
        </p:nvSpPr>
        <p:spPr>
          <a:xfrm>
            <a:off x="521207" y="2446599"/>
            <a:ext cx="1737361" cy="3005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600" b="1">
                <a:solidFill>
                  <a:srgbClr val="1B7A4E"/>
                </a:solidFill>
              </a:defRPr>
            </a:lvl1pPr>
          </a:lstStyle>
          <a:p>
            <a:r>
              <a:t>R²  =  0.9875</a:t>
            </a:r>
          </a:p>
        </p:txBody>
      </p:sp>
      <p:sp>
        <p:nvSpPr>
          <p:cNvPr id="226" name="Text 23"/>
          <p:cNvSpPr txBox="1"/>
          <p:nvPr/>
        </p:nvSpPr>
        <p:spPr>
          <a:xfrm>
            <a:off x="521207" y="2859699"/>
            <a:ext cx="1737361"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8A9BBB"/>
                </a:solidFill>
              </a:defRPr>
            </a:lvl1pPr>
          </a:lstStyle>
          <a:p>
            <a:r>
              <a:t>Test set accuracy</a:t>
            </a:r>
          </a:p>
        </p:txBody>
      </p:sp>
      <p:sp>
        <p:nvSpPr>
          <p:cNvPr id="227" name="Shape 24"/>
          <p:cNvSpPr/>
          <p:nvPr/>
        </p:nvSpPr>
        <p:spPr>
          <a:xfrm>
            <a:off x="2532887" y="2304288"/>
            <a:ext cx="1993394" cy="914401"/>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228" name="Shape 25"/>
          <p:cNvSpPr/>
          <p:nvPr/>
        </p:nvSpPr>
        <p:spPr>
          <a:xfrm>
            <a:off x="2532887" y="2304288"/>
            <a:ext cx="1993394" cy="59436"/>
          </a:xfrm>
          <a:prstGeom prst="rect">
            <a:avLst/>
          </a:prstGeom>
          <a:solidFill>
            <a:srgbClr val="2E6DB4"/>
          </a:solidFill>
          <a:ln w="12700">
            <a:solidFill>
              <a:srgbClr val="2E6DB4"/>
            </a:solidFill>
          </a:ln>
        </p:spPr>
        <p:txBody>
          <a:bodyPr lIns="45719" rIns="45719"/>
          <a:lstStyle/>
          <a:p>
            <a:endParaRPr/>
          </a:p>
        </p:txBody>
      </p:sp>
      <p:sp>
        <p:nvSpPr>
          <p:cNvPr id="229" name="Text 26"/>
          <p:cNvSpPr txBox="1"/>
          <p:nvPr/>
        </p:nvSpPr>
        <p:spPr>
          <a:xfrm>
            <a:off x="2670047" y="2446599"/>
            <a:ext cx="1737361" cy="3005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600" b="1">
                <a:solidFill>
                  <a:srgbClr val="2E6DB4"/>
                </a:solidFill>
              </a:defRPr>
            </a:lvl1pPr>
          </a:lstStyle>
          <a:p>
            <a:r>
              <a:t>RMSE  =  1.96%</a:t>
            </a:r>
          </a:p>
        </p:txBody>
      </p:sp>
      <p:sp>
        <p:nvSpPr>
          <p:cNvPr id="230" name="Text 27"/>
          <p:cNvSpPr txBox="1"/>
          <p:nvPr/>
        </p:nvSpPr>
        <p:spPr>
          <a:xfrm>
            <a:off x="2670047" y="2859699"/>
            <a:ext cx="1737361"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8A9BBB"/>
                </a:solidFill>
              </a:defRPr>
            </a:lvl1pPr>
          </a:lstStyle>
          <a:p>
            <a:r>
              <a:t>Root mean sq. error</a:t>
            </a:r>
          </a:p>
        </p:txBody>
      </p:sp>
      <p:sp>
        <p:nvSpPr>
          <p:cNvPr id="231" name="Shape 28"/>
          <p:cNvSpPr/>
          <p:nvPr/>
        </p:nvSpPr>
        <p:spPr>
          <a:xfrm>
            <a:off x="4681728" y="2304288"/>
            <a:ext cx="1993393" cy="914401"/>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232" name="Shape 29"/>
          <p:cNvSpPr/>
          <p:nvPr/>
        </p:nvSpPr>
        <p:spPr>
          <a:xfrm>
            <a:off x="4681728" y="2304288"/>
            <a:ext cx="1993393" cy="59436"/>
          </a:xfrm>
          <a:prstGeom prst="rect">
            <a:avLst/>
          </a:prstGeom>
          <a:solidFill>
            <a:srgbClr val="0D7377"/>
          </a:solidFill>
          <a:ln w="12700">
            <a:solidFill>
              <a:srgbClr val="0D7377"/>
            </a:solidFill>
          </a:ln>
        </p:spPr>
        <p:txBody>
          <a:bodyPr lIns="45719" rIns="45719"/>
          <a:lstStyle/>
          <a:p>
            <a:endParaRPr/>
          </a:p>
        </p:txBody>
      </p:sp>
      <p:sp>
        <p:nvSpPr>
          <p:cNvPr id="233" name="Text 30"/>
          <p:cNvSpPr txBox="1"/>
          <p:nvPr/>
        </p:nvSpPr>
        <p:spPr>
          <a:xfrm>
            <a:off x="4818887" y="2446599"/>
            <a:ext cx="1737361" cy="3005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600" b="1">
                <a:solidFill>
                  <a:srgbClr val="0D7377"/>
                </a:solidFill>
              </a:defRPr>
            </a:lvl1pPr>
          </a:lstStyle>
          <a:p>
            <a:r>
              <a:t>MAE  =  0.60%</a:t>
            </a:r>
          </a:p>
        </p:txBody>
      </p:sp>
      <p:sp>
        <p:nvSpPr>
          <p:cNvPr id="234" name="Text 31"/>
          <p:cNvSpPr txBox="1"/>
          <p:nvPr/>
        </p:nvSpPr>
        <p:spPr>
          <a:xfrm>
            <a:off x="4818887" y="2859699"/>
            <a:ext cx="1737361"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8A9BBB"/>
                </a:solidFill>
              </a:defRPr>
            </a:lvl1pPr>
          </a:lstStyle>
          <a:p>
            <a:r>
              <a:t>Mean absolute error</a:t>
            </a:r>
          </a:p>
        </p:txBody>
      </p:sp>
      <p:sp>
        <p:nvSpPr>
          <p:cNvPr id="235" name="Shape 32"/>
          <p:cNvSpPr/>
          <p:nvPr/>
        </p:nvSpPr>
        <p:spPr>
          <a:xfrm>
            <a:off x="6830568" y="2304288"/>
            <a:ext cx="1993393" cy="914401"/>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236" name="Shape 33"/>
          <p:cNvSpPr/>
          <p:nvPr/>
        </p:nvSpPr>
        <p:spPr>
          <a:xfrm>
            <a:off x="6830568" y="2304288"/>
            <a:ext cx="1993393" cy="59436"/>
          </a:xfrm>
          <a:prstGeom prst="rect">
            <a:avLst/>
          </a:prstGeom>
          <a:solidFill>
            <a:srgbClr val="1F3A6E"/>
          </a:solidFill>
          <a:ln w="12700">
            <a:solidFill>
              <a:srgbClr val="1F3A6E"/>
            </a:solidFill>
          </a:ln>
        </p:spPr>
        <p:txBody>
          <a:bodyPr lIns="45719" rIns="45719"/>
          <a:lstStyle/>
          <a:p>
            <a:endParaRPr/>
          </a:p>
        </p:txBody>
      </p:sp>
      <p:sp>
        <p:nvSpPr>
          <p:cNvPr id="237" name="Text 34"/>
          <p:cNvSpPr txBox="1"/>
          <p:nvPr/>
        </p:nvSpPr>
        <p:spPr>
          <a:xfrm>
            <a:off x="6967727" y="2446599"/>
            <a:ext cx="1737361" cy="3005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600" b="1">
                <a:solidFill>
                  <a:srgbClr val="1F3A6E"/>
                </a:solidFill>
              </a:defRPr>
            </a:lvl1pPr>
          </a:lstStyle>
          <a:p>
            <a:r>
              <a:t>1,020 / 180</a:t>
            </a:r>
          </a:p>
        </p:txBody>
      </p:sp>
      <p:sp>
        <p:nvSpPr>
          <p:cNvPr id="238" name="Text 35"/>
          <p:cNvSpPr txBox="1"/>
          <p:nvPr/>
        </p:nvSpPr>
        <p:spPr>
          <a:xfrm>
            <a:off x="6967727" y="2859699"/>
            <a:ext cx="1737361"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8A9BBB"/>
                </a:solidFill>
              </a:defRPr>
            </a:lvl1pPr>
          </a:lstStyle>
          <a:p>
            <a:r>
              <a:t>Train / Test split</a:t>
            </a:r>
          </a:p>
        </p:txBody>
      </p:sp>
      <p:sp>
        <p:nvSpPr>
          <p:cNvPr id="239" name="Text 36"/>
          <p:cNvSpPr txBox="1"/>
          <p:nvPr/>
        </p:nvSpPr>
        <p:spPr>
          <a:xfrm>
            <a:off x="429767" y="3416730"/>
            <a:ext cx="8284466" cy="225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b="1">
                <a:solidFill>
                  <a:srgbClr val="1F3A6E"/>
                </a:solidFill>
              </a:defRPr>
            </a:lvl1pPr>
          </a:lstStyle>
          <a:p>
            <a:r>
              <a:t>Optimal Conditions Found by ANN + Differential Evolution</a:t>
            </a:r>
          </a:p>
        </p:txBody>
      </p:sp>
      <p:graphicFrame>
        <p:nvGraphicFramePr>
          <p:cNvPr id="240" name="Table 0"/>
          <p:cNvGraphicFramePr/>
          <p:nvPr/>
        </p:nvGraphicFramePr>
        <p:xfrm>
          <a:off x="384047" y="3712464"/>
          <a:ext cx="8375904" cy="1170432"/>
        </p:xfrm>
        <a:graphic>
          <a:graphicData uri="http://schemas.openxmlformats.org/drawingml/2006/table">
            <a:tbl>
              <a:tblPr>
                <a:tableStyleId>{4C3C2611-4C71-4FC5-86AE-919BDF0F9419}</a:tableStyleId>
              </a:tblPr>
              <a:tblGrid>
                <a:gridCol w="21031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792224">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256032">
                <a:tc>
                  <a:txBody>
                    <a:bodyPr/>
                    <a:lstStyle/>
                    <a:p>
                      <a:pPr algn="l">
                        <a:defRPr sz="1800"/>
                      </a:pPr>
                      <a:r>
                        <a:rPr sz="900" b="1">
                          <a:solidFill>
                            <a:srgbClr val="FFFFFF"/>
                          </a:solidFill>
                        </a:rPr>
                        <a:t>Variable</a:t>
                      </a:r>
                    </a:p>
                  </a:txBody>
                  <a:tcPr marL="45720" marR="45720" horzOverflow="overflow">
                    <a:lnL w="6350">
                      <a:solidFill>
                        <a:srgbClr val="D0D9EE"/>
                      </a:solidFill>
                    </a:lnL>
                    <a:lnR w="6350">
                      <a:solidFill>
                        <a:srgbClr val="D0D9EE"/>
                      </a:solidFill>
                    </a:lnR>
                    <a:lnT w="6350">
                      <a:solidFill>
                        <a:srgbClr val="D0D9EE"/>
                      </a:solidFill>
                    </a:lnT>
                    <a:lnB w="6350">
                      <a:solidFill>
                        <a:srgbClr val="D0D9EE"/>
                      </a:solidFill>
                    </a:lnB>
                    <a:solidFill>
                      <a:srgbClr val="1F3A6E"/>
                    </a:solidFill>
                  </a:tcPr>
                </a:tc>
                <a:tc>
                  <a:txBody>
                    <a:bodyPr/>
                    <a:lstStyle/>
                    <a:p>
                      <a:pPr algn="l">
                        <a:defRPr sz="1800"/>
                      </a:pPr>
                      <a:r>
                        <a:rPr sz="900" b="1">
                          <a:solidFill>
                            <a:srgbClr val="FFFFFF"/>
                          </a:solidFill>
                        </a:rPr>
                        <a:t>Range Tested</a:t>
                      </a:r>
                    </a:p>
                  </a:txBody>
                  <a:tcPr marL="45720" marR="45720" horzOverflow="overflow">
                    <a:lnL w="6350">
                      <a:solidFill>
                        <a:srgbClr val="D0D9EE"/>
                      </a:solidFill>
                    </a:lnL>
                    <a:lnR w="6350">
                      <a:solidFill>
                        <a:srgbClr val="D0D9EE"/>
                      </a:solidFill>
                    </a:lnR>
                    <a:lnT w="6350">
                      <a:solidFill>
                        <a:srgbClr val="D0D9EE"/>
                      </a:solidFill>
                    </a:lnT>
                    <a:lnB w="6350">
                      <a:solidFill>
                        <a:srgbClr val="D0D9EE"/>
                      </a:solidFill>
                    </a:lnB>
                    <a:solidFill>
                      <a:srgbClr val="1F3A6E"/>
                    </a:solidFill>
                  </a:tcPr>
                </a:tc>
                <a:tc>
                  <a:txBody>
                    <a:bodyPr/>
                    <a:lstStyle/>
                    <a:p>
                      <a:pPr algn="l">
                        <a:defRPr sz="1800"/>
                      </a:pPr>
                      <a:r>
                        <a:rPr sz="900" b="1">
                          <a:solidFill>
                            <a:srgbClr val="FFFFFF"/>
                          </a:solidFill>
                        </a:rPr>
                        <a:t>Optimal Value</a:t>
                      </a:r>
                    </a:p>
                  </a:txBody>
                  <a:tcPr marL="45720" marR="45720" horzOverflow="overflow">
                    <a:lnL w="6350">
                      <a:solidFill>
                        <a:srgbClr val="D0D9EE"/>
                      </a:solidFill>
                    </a:lnL>
                    <a:lnR w="6350">
                      <a:solidFill>
                        <a:srgbClr val="D0D9EE"/>
                      </a:solidFill>
                    </a:lnR>
                    <a:lnT w="6350">
                      <a:solidFill>
                        <a:srgbClr val="D0D9EE"/>
                      </a:solidFill>
                    </a:lnT>
                    <a:lnB w="6350">
                      <a:solidFill>
                        <a:srgbClr val="D0D9EE"/>
                      </a:solidFill>
                    </a:lnB>
                    <a:solidFill>
                      <a:srgbClr val="1F3A6E"/>
                    </a:solidFill>
                  </a:tcPr>
                </a:tc>
                <a:tc>
                  <a:txBody>
                    <a:bodyPr/>
                    <a:lstStyle/>
                    <a:p>
                      <a:pPr algn="l">
                        <a:defRPr sz="1800"/>
                      </a:pPr>
                      <a:r>
                        <a:rPr sz="900" b="1">
                          <a:solidFill>
                            <a:srgbClr val="FFFFFF"/>
                          </a:solidFill>
                        </a:rPr>
                        <a:t>Result</a:t>
                      </a:r>
                    </a:p>
                  </a:txBody>
                  <a:tcPr marL="45720" marR="45720" horzOverflow="overflow">
                    <a:lnL w="6350">
                      <a:solidFill>
                        <a:srgbClr val="D0D9EE"/>
                      </a:solidFill>
                    </a:lnL>
                    <a:lnR w="6350">
                      <a:solidFill>
                        <a:srgbClr val="D0D9EE"/>
                      </a:solidFill>
                    </a:lnR>
                    <a:lnT w="6350">
                      <a:solidFill>
                        <a:srgbClr val="D0D9EE"/>
                      </a:solidFill>
                    </a:lnT>
                    <a:lnB w="6350">
                      <a:solidFill>
                        <a:srgbClr val="D0D9EE"/>
                      </a:solidFill>
                    </a:lnB>
                    <a:solidFill>
                      <a:srgbClr val="1F3A6E"/>
                    </a:solidFill>
                  </a:tcPr>
                </a:tc>
                <a:extLst>
                  <a:ext uri="{0D108BD9-81ED-4DB2-BD59-A6C34878D82A}">
                    <a16:rowId xmlns:a16="http://schemas.microsoft.com/office/drawing/2014/main" val="10000"/>
                  </a:ext>
                </a:extLst>
              </a:tr>
              <a:tr h="214884">
                <a:tc>
                  <a:txBody>
                    <a:bodyPr/>
                    <a:lstStyle/>
                    <a:p>
                      <a:pPr algn="l">
                        <a:defRPr sz="1800"/>
                      </a:pPr>
                      <a:r>
                        <a:rPr sz="900"/>
                        <a:t>Acid Conc (mol/L)</a:t>
                      </a:r>
                    </a:p>
                  </a:txBody>
                  <a:tcPr marL="45720" marR="45720" horzOverflow="overflow">
                    <a:lnL w="6350">
                      <a:solidFill>
                        <a:srgbClr val="D0D9EE"/>
                      </a:solidFill>
                    </a:lnL>
                    <a:lnR w="6350">
                      <a:solidFill>
                        <a:srgbClr val="D0D9EE"/>
                      </a:solidFill>
                    </a:lnR>
                    <a:lnT w="6350">
                      <a:solidFill>
                        <a:srgbClr val="D0D9EE"/>
                      </a:solidFill>
                    </a:lnT>
                    <a:lnB w="6350">
                      <a:solidFill>
                        <a:srgbClr val="D0D9EE"/>
                      </a:solidFill>
                    </a:lnB>
                    <a:solidFill>
                      <a:srgbClr val="F4F6FB"/>
                    </a:solidFill>
                  </a:tcPr>
                </a:tc>
                <a:tc>
                  <a:txBody>
                    <a:bodyPr/>
                    <a:lstStyle/>
                    <a:p>
                      <a:pPr algn="l">
                        <a:defRPr sz="1800"/>
                      </a:pPr>
                      <a:r>
                        <a:rPr sz="900"/>
                        <a:t>0.010 – 0.150</a:t>
                      </a:r>
                    </a:p>
                  </a:txBody>
                  <a:tcPr marL="45720" marR="45720" horzOverflow="overflow">
                    <a:lnL w="6350">
                      <a:solidFill>
                        <a:srgbClr val="D0D9EE"/>
                      </a:solidFill>
                    </a:lnL>
                    <a:lnR w="6350">
                      <a:solidFill>
                        <a:srgbClr val="D0D9EE"/>
                      </a:solidFill>
                    </a:lnR>
                    <a:lnT w="6350">
                      <a:solidFill>
                        <a:srgbClr val="D0D9EE"/>
                      </a:solidFill>
                    </a:lnT>
                    <a:lnB w="6350">
                      <a:solidFill>
                        <a:srgbClr val="D0D9EE"/>
                      </a:solidFill>
                    </a:lnB>
                    <a:solidFill>
                      <a:srgbClr val="F4F6FB"/>
                    </a:solidFill>
                  </a:tcPr>
                </a:tc>
                <a:tc>
                  <a:txBody>
                    <a:bodyPr/>
                    <a:lstStyle/>
                    <a:p>
                      <a:pPr algn="l">
                        <a:defRPr sz="1800"/>
                      </a:pPr>
                      <a:r>
                        <a:rPr sz="900"/>
                        <a:t>0.073 mol/L</a:t>
                      </a:r>
                    </a:p>
                  </a:txBody>
                  <a:tcPr marL="45720" marR="45720" horzOverflow="overflow">
                    <a:lnL w="6350">
                      <a:solidFill>
                        <a:srgbClr val="D0D9EE"/>
                      </a:solidFill>
                    </a:lnL>
                    <a:lnR w="6350">
                      <a:solidFill>
                        <a:srgbClr val="D0D9EE"/>
                      </a:solidFill>
                    </a:lnR>
                    <a:lnT w="6350">
                      <a:solidFill>
                        <a:srgbClr val="D0D9EE"/>
                      </a:solidFill>
                    </a:lnT>
                    <a:lnB w="6350">
                      <a:solidFill>
                        <a:srgbClr val="D0D9EE"/>
                      </a:solidFill>
                    </a:lnB>
                    <a:solidFill>
                      <a:srgbClr val="F4F6FB"/>
                    </a:solidFill>
                  </a:tcPr>
                </a:tc>
                <a:tc>
                  <a:txBody>
                    <a:bodyPr/>
                    <a:lstStyle/>
                    <a:p>
                      <a:pPr algn="l">
                        <a:defRPr sz="1800"/>
                      </a:pPr>
                      <a:r>
                        <a:rPr sz="900"/>
                        <a:t>Peak reaction stoichiometry</a:t>
                      </a:r>
                    </a:p>
                  </a:txBody>
                  <a:tcPr marL="45720" marR="45720" horzOverflow="overflow">
                    <a:lnL w="6350">
                      <a:solidFill>
                        <a:srgbClr val="D0D9EE"/>
                      </a:solidFill>
                    </a:lnL>
                    <a:lnR w="6350">
                      <a:solidFill>
                        <a:srgbClr val="D0D9EE"/>
                      </a:solidFill>
                    </a:lnR>
                    <a:lnT w="6350">
                      <a:solidFill>
                        <a:srgbClr val="D0D9EE"/>
                      </a:solidFill>
                    </a:lnT>
                    <a:lnB w="6350">
                      <a:solidFill>
                        <a:srgbClr val="D0D9EE"/>
                      </a:solidFill>
                    </a:lnB>
                    <a:solidFill>
                      <a:srgbClr val="F4F6FB"/>
                    </a:solidFill>
                  </a:tcPr>
                </a:tc>
                <a:extLst>
                  <a:ext uri="{0D108BD9-81ED-4DB2-BD59-A6C34878D82A}">
                    <a16:rowId xmlns:a16="http://schemas.microsoft.com/office/drawing/2014/main" val="10001"/>
                  </a:ext>
                </a:extLst>
              </a:tr>
              <a:tr h="214884">
                <a:tc>
                  <a:txBody>
                    <a:bodyPr/>
                    <a:lstStyle/>
                    <a:p>
                      <a:pPr algn="l">
                        <a:defRPr sz="1800"/>
                      </a:pPr>
                      <a:r>
                        <a:rPr sz="900"/>
                        <a:t>TOA Extractant (%)</a:t>
                      </a:r>
                    </a:p>
                  </a:txBody>
                  <a:tcPr marL="45720" marR="45720" horzOverflow="overflow">
                    <a:lnL w="6350">
                      <a:solidFill>
                        <a:srgbClr val="D0D9EE"/>
                      </a:solidFill>
                    </a:lnL>
                    <a:lnR w="6350">
                      <a:solidFill>
                        <a:srgbClr val="D0D9EE"/>
                      </a:solidFill>
                    </a:lnR>
                    <a:lnT w="6350">
                      <a:solidFill>
                        <a:srgbClr val="D0D9EE"/>
                      </a:solidFill>
                    </a:lnT>
                    <a:lnB w="6350">
                      <a:solidFill>
                        <a:srgbClr val="D0D9EE"/>
                      </a:solidFill>
                    </a:lnB>
                    <a:solidFill>
                      <a:srgbClr val="F4F6FB"/>
                    </a:solidFill>
                  </a:tcPr>
                </a:tc>
                <a:tc>
                  <a:txBody>
                    <a:bodyPr/>
                    <a:lstStyle/>
                    <a:p>
                      <a:pPr algn="l">
                        <a:defRPr sz="1800"/>
                      </a:pPr>
                      <a:r>
                        <a:rPr sz="900"/>
                        <a:t>1 – 40 % v/v</a:t>
                      </a:r>
                    </a:p>
                  </a:txBody>
                  <a:tcPr marL="45720" marR="45720" horzOverflow="overflow">
                    <a:lnL w="6350">
                      <a:solidFill>
                        <a:srgbClr val="D0D9EE"/>
                      </a:solidFill>
                    </a:lnL>
                    <a:lnR w="6350">
                      <a:solidFill>
                        <a:srgbClr val="D0D9EE"/>
                      </a:solidFill>
                    </a:lnR>
                    <a:lnT w="6350">
                      <a:solidFill>
                        <a:srgbClr val="D0D9EE"/>
                      </a:solidFill>
                    </a:lnT>
                    <a:lnB w="6350">
                      <a:solidFill>
                        <a:srgbClr val="D0D9EE"/>
                      </a:solidFill>
                    </a:lnB>
                    <a:solidFill>
                      <a:srgbClr val="F4F6FB"/>
                    </a:solidFill>
                  </a:tcPr>
                </a:tc>
                <a:tc>
                  <a:txBody>
                    <a:bodyPr/>
                    <a:lstStyle/>
                    <a:p>
                      <a:pPr algn="l">
                        <a:defRPr sz="1800"/>
                      </a:pPr>
                      <a:r>
                        <a:rPr sz="900"/>
                        <a:t>25.4 %</a:t>
                      </a:r>
                    </a:p>
                  </a:txBody>
                  <a:tcPr marL="45720" marR="45720" horzOverflow="overflow">
                    <a:lnL w="6350">
                      <a:solidFill>
                        <a:srgbClr val="D0D9EE"/>
                      </a:solidFill>
                    </a:lnL>
                    <a:lnR w="6350">
                      <a:solidFill>
                        <a:srgbClr val="D0D9EE"/>
                      </a:solidFill>
                    </a:lnR>
                    <a:lnT w="6350">
                      <a:solidFill>
                        <a:srgbClr val="D0D9EE"/>
                      </a:solidFill>
                    </a:lnT>
                    <a:lnB w="6350">
                      <a:solidFill>
                        <a:srgbClr val="D0D9EE"/>
                      </a:solidFill>
                    </a:lnB>
                    <a:solidFill>
                      <a:srgbClr val="F4F6FB"/>
                    </a:solidFill>
                  </a:tcPr>
                </a:tc>
                <a:tc>
                  <a:txBody>
                    <a:bodyPr/>
                    <a:lstStyle/>
                    <a:p>
                      <a:pPr algn="l">
                        <a:defRPr sz="1800"/>
                      </a:pPr>
                      <a:r>
                        <a:rPr sz="900"/>
                        <a:t>Near saturation point</a:t>
                      </a:r>
                    </a:p>
                  </a:txBody>
                  <a:tcPr marL="45720" marR="45720" horzOverflow="overflow">
                    <a:lnL w="6350">
                      <a:solidFill>
                        <a:srgbClr val="D0D9EE"/>
                      </a:solidFill>
                    </a:lnL>
                    <a:lnR w="6350">
                      <a:solidFill>
                        <a:srgbClr val="D0D9EE"/>
                      </a:solidFill>
                    </a:lnR>
                    <a:lnT w="6350">
                      <a:solidFill>
                        <a:srgbClr val="D0D9EE"/>
                      </a:solidFill>
                    </a:lnT>
                    <a:lnB w="6350">
                      <a:solidFill>
                        <a:srgbClr val="D0D9EE"/>
                      </a:solidFill>
                    </a:lnB>
                    <a:solidFill>
                      <a:srgbClr val="F4F6FB"/>
                    </a:solidFill>
                  </a:tcPr>
                </a:tc>
                <a:extLst>
                  <a:ext uri="{0D108BD9-81ED-4DB2-BD59-A6C34878D82A}">
                    <a16:rowId xmlns:a16="http://schemas.microsoft.com/office/drawing/2014/main" val="10002"/>
                  </a:ext>
                </a:extLst>
              </a:tr>
              <a:tr h="214884">
                <a:tc>
                  <a:txBody>
                    <a:bodyPr/>
                    <a:lstStyle/>
                    <a:p>
                      <a:pPr algn="l">
                        <a:defRPr sz="1800"/>
                      </a:pPr>
                      <a:r>
                        <a:rPr sz="900"/>
                        <a:t>DCM Modifier (%)</a:t>
                      </a:r>
                    </a:p>
                  </a:txBody>
                  <a:tcPr marL="45720" marR="45720" horzOverflow="overflow">
                    <a:lnL w="6350">
                      <a:solidFill>
                        <a:srgbClr val="D0D9EE"/>
                      </a:solidFill>
                    </a:lnL>
                    <a:lnR w="6350">
                      <a:solidFill>
                        <a:srgbClr val="D0D9EE"/>
                      </a:solidFill>
                    </a:lnR>
                    <a:lnT w="6350">
                      <a:solidFill>
                        <a:srgbClr val="D0D9EE"/>
                      </a:solidFill>
                    </a:lnT>
                    <a:lnB w="6350">
                      <a:solidFill>
                        <a:srgbClr val="D0D9EE"/>
                      </a:solidFill>
                    </a:lnB>
                    <a:solidFill>
                      <a:srgbClr val="F4F6FB"/>
                    </a:solidFill>
                  </a:tcPr>
                </a:tc>
                <a:tc>
                  <a:txBody>
                    <a:bodyPr/>
                    <a:lstStyle/>
                    <a:p>
                      <a:pPr algn="l">
                        <a:defRPr sz="1800"/>
                      </a:pPr>
                      <a:r>
                        <a:rPr sz="900"/>
                        <a:t>10 – 100 % v/v</a:t>
                      </a:r>
                    </a:p>
                  </a:txBody>
                  <a:tcPr marL="45720" marR="45720" horzOverflow="overflow">
                    <a:lnL w="6350">
                      <a:solidFill>
                        <a:srgbClr val="D0D9EE"/>
                      </a:solidFill>
                    </a:lnL>
                    <a:lnR w="6350">
                      <a:solidFill>
                        <a:srgbClr val="D0D9EE"/>
                      </a:solidFill>
                    </a:lnR>
                    <a:lnT w="6350">
                      <a:solidFill>
                        <a:srgbClr val="D0D9EE"/>
                      </a:solidFill>
                    </a:lnT>
                    <a:lnB w="6350">
                      <a:solidFill>
                        <a:srgbClr val="D0D9EE"/>
                      </a:solidFill>
                    </a:lnB>
                    <a:solidFill>
                      <a:srgbClr val="F4F6FB"/>
                    </a:solidFill>
                  </a:tcPr>
                </a:tc>
                <a:tc>
                  <a:txBody>
                    <a:bodyPr/>
                    <a:lstStyle/>
                    <a:p>
                      <a:pPr algn="l">
                        <a:defRPr sz="1800"/>
                      </a:pPr>
                      <a:r>
                        <a:rPr sz="900"/>
                        <a:t>90.0 %</a:t>
                      </a:r>
                    </a:p>
                  </a:txBody>
                  <a:tcPr marL="45720" marR="45720" horzOverflow="overflow">
                    <a:lnL w="6350">
                      <a:solidFill>
                        <a:srgbClr val="D0D9EE"/>
                      </a:solidFill>
                    </a:lnL>
                    <a:lnR w="6350">
                      <a:solidFill>
                        <a:srgbClr val="D0D9EE"/>
                      </a:solidFill>
                    </a:lnR>
                    <a:lnT w="6350">
                      <a:solidFill>
                        <a:srgbClr val="D0D9EE"/>
                      </a:solidFill>
                    </a:lnT>
                    <a:lnB w="6350">
                      <a:solidFill>
                        <a:srgbClr val="D0D9EE"/>
                      </a:solidFill>
                    </a:lnB>
                    <a:solidFill>
                      <a:srgbClr val="F4F6FB"/>
                    </a:solidFill>
                  </a:tcPr>
                </a:tc>
                <a:tc>
                  <a:txBody>
                    <a:bodyPr/>
                    <a:lstStyle/>
                    <a:p>
                      <a:pPr algn="l">
                        <a:defRPr sz="1800"/>
                      </a:pPr>
                      <a:r>
                        <a:rPr sz="900"/>
                        <a:t>Maximum solvation capacity</a:t>
                      </a:r>
                    </a:p>
                  </a:txBody>
                  <a:tcPr marL="45720" marR="45720" horzOverflow="overflow">
                    <a:lnL w="6350">
                      <a:solidFill>
                        <a:srgbClr val="D0D9EE"/>
                      </a:solidFill>
                    </a:lnL>
                    <a:lnR w="6350">
                      <a:solidFill>
                        <a:srgbClr val="D0D9EE"/>
                      </a:solidFill>
                    </a:lnR>
                    <a:lnT w="6350">
                      <a:solidFill>
                        <a:srgbClr val="D0D9EE"/>
                      </a:solidFill>
                    </a:lnT>
                    <a:lnB w="6350">
                      <a:solidFill>
                        <a:srgbClr val="D0D9EE"/>
                      </a:solidFill>
                    </a:lnB>
                    <a:solidFill>
                      <a:srgbClr val="F4F6FB"/>
                    </a:solidFill>
                  </a:tcPr>
                </a:tc>
                <a:extLst>
                  <a:ext uri="{0D108BD9-81ED-4DB2-BD59-A6C34878D82A}">
                    <a16:rowId xmlns:a16="http://schemas.microsoft.com/office/drawing/2014/main" val="10003"/>
                  </a:ext>
                </a:extLst>
              </a:tr>
              <a:tr h="214884">
                <a:tc>
                  <a:txBody>
                    <a:bodyPr/>
                    <a:lstStyle/>
                    <a:p>
                      <a:pPr algn="l">
                        <a:defRPr sz="1800"/>
                      </a:pPr>
                      <a:r>
                        <a:rPr sz="900" b="1"/>
                        <a:t>Predicted %Y</a:t>
                      </a:r>
                    </a:p>
                  </a:txBody>
                  <a:tcPr marL="45720" marR="45720" horzOverflow="overflow">
                    <a:lnL w="6350">
                      <a:solidFill>
                        <a:srgbClr val="D0D9EE"/>
                      </a:solidFill>
                    </a:lnL>
                    <a:lnR w="6350">
                      <a:solidFill>
                        <a:srgbClr val="D0D9EE"/>
                      </a:solidFill>
                    </a:lnR>
                    <a:lnT w="6350">
                      <a:solidFill>
                        <a:srgbClr val="D0D9EE"/>
                      </a:solidFill>
                    </a:lnT>
                    <a:lnB w="6350">
                      <a:solidFill>
                        <a:srgbClr val="D0D9EE"/>
                      </a:solidFill>
                    </a:lnB>
                    <a:solidFill>
                      <a:srgbClr val="F4F6FB"/>
                    </a:solidFill>
                  </a:tcPr>
                </a:tc>
                <a:tc>
                  <a:txBody>
                    <a:bodyPr/>
                    <a:lstStyle/>
                    <a:p>
                      <a:pPr algn="l">
                        <a:defRPr sz="1800"/>
                      </a:pPr>
                      <a:r>
                        <a:rPr sz="900"/>
                        <a:t>—</a:t>
                      </a:r>
                    </a:p>
                  </a:txBody>
                  <a:tcPr marL="45720" marR="45720" horzOverflow="overflow">
                    <a:lnL w="6350">
                      <a:solidFill>
                        <a:srgbClr val="D0D9EE"/>
                      </a:solidFill>
                    </a:lnL>
                    <a:lnR w="6350">
                      <a:solidFill>
                        <a:srgbClr val="D0D9EE"/>
                      </a:solidFill>
                    </a:lnR>
                    <a:lnT w="6350">
                      <a:solidFill>
                        <a:srgbClr val="D0D9EE"/>
                      </a:solidFill>
                    </a:lnT>
                    <a:lnB w="6350">
                      <a:solidFill>
                        <a:srgbClr val="D0D9EE"/>
                      </a:solidFill>
                    </a:lnB>
                    <a:solidFill>
                      <a:srgbClr val="F4F6FB"/>
                    </a:solidFill>
                  </a:tcPr>
                </a:tc>
                <a:tc>
                  <a:txBody>
                    <a:bodyPr/>
                    <a:lstStyle/>
                    <a:p>
                      <a:pPr algn="l">
                        <a:defRPr sz="1800"/>
                      </a:pPr>
                      <a:r>
                        <a:rPr sz="900" b="1">
                          <a:solidFill>
                            <a:srgbClr val="1B7A4E"/>
                          </a:solidFill>
                        </a:rPr>
                        <a:t>89.95 %</a:t>
                      </a:r>
                    </a:p>
                  </a:txBody>
                  <a:tcPr marL="45720" marR="45720" horzOverflow="overflow">
                    <a:lnL w="6350">
                      <a:solidFill>
                        <a:srgbClr val="D0D9EE"/>
                      </a:solidFill>
                    </a:lnL>
                    <a:lnR w="6350">
                      <a:solidFill>
                        <a:srgbClr val="D0D9EE"/>
                      </a:solidFill>
                    </a:lnR>
                    <a:lnT w="6350">
                      <a:solidFill>
                        <a:srgbClr val="D0D9EE"/>
                      </a:solidFill>
                    </a:lnT>
                    <a:lnB w="6350">
                      <a:solidFill>
                        <a:srgbClr val="D0D9EE"/>
                      </a:solidFill>
                    </a:lnB>
                    <a:solidFill>
                      <a:srgbClr val="F4F6FB"/>
                    </a:solidFill>
                  </a:tcPr>
                </a:tc>
                <a:tc>
                  <a:txBody>
                    <a:bodyPr/>
                    <a:lstStyle/>
                    <a:p>
                      <a:pPr algn="l">
                        <a:defRPr sz="1800"/>
                      </a:pPr>
                      <a:r>
                        <a:rPr sz="900"/>
                        <a:t>Excellent extraction</a:t>
                      </a:r>
                    </a:p>
                  </a:txBody>
                  <a:tcPr marL="45720" marR="45720" horzOverflow="overflow">
                    <a:lnL w="6350">
                      <a:solidFill>
                        <a:srgbClr val="D0D9EE"/>
                      </a:solidFill>
                    </a:lnL>
                    <a:lnR w="6350">
                      <a:solidFill>
                        <a:srgbClr val="D0D9EE"/>
                      </a:solidFill>
                    </a:lnR>
                    <a:lnT w="6350">
                      <a:solidFill>
                        <a:srgbClr val="D0D9EE"/>
                      </a:solidFill>
                    </a:lnT>
                    <a:lnB w="6350">
                      <a:solidFill>
                        <a:srgbClr val="D0D9EE"/>
                      </a:solidFill>
                    </a:lnB>
                    <a:solidFill>
                      <a:srgbClr val="F4F6FB"/>
                    </a:solidFill>
                  </a:tcPr>
                </a:tc>
                <a:extLst>
                  <a:ext uri="{0D108BD9-81ED-4DB2-BD59-A6C34878D82A}">
                    <a16:rowId xmlns:a16="http://schemas.microsoft.com/office/drawing/2014/main" val="10004"/>
                  </a:ext>
                </a:extLst>
              </a:tr>
            </a:tbl>
          </a:graphicData>
        </a:graphic>
      </p:graphicFrame>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Shape 0"/>
          <p:cNvSpPr/>
          <p:nvPr/>
        </p:nvSpPr>
        <p:spPr>
          <a:xfrm>
            <a:off x="0" y="0"/>
            <a:ext cx="9144000" cy="64008"/>
          </a:xfrm>
          <a:prstGeom prst="rect">
            <a:avLst/>
          </a:prstGeom>
          <a:solidFill>
            <a:srgbClr val="0D7377"/>
          </a:solidFill>
          <a:ln w="12700">
            <a:solidFill>
              <a:srgbClr val="0D7377"/>
            </a:solidFill>
          </a:ln>
        </p:spPr>
        <p:txBody>
          <a:bodyPr lIns="45719" rIns="45719"/>
          <a:lstStyle/>
          <a:p>
            <a:endParaRPr/>
          </a:p>
        </p:txBody>
      </p:sp>
      <p:sp>
        <p:nvSpPr>
          <p:cNvPr id="243" name="Shape 1"/>
          <p:cNvSpPr/>
          <p:nvPr/>
        </p:nvSpPr>
        <p:spPr>
          <a:xfrm>
            <a:off x="0" y="5074920"/>
            <a:ext cx="9144000" cy="68581"/>
          </a:xfrm>
          <a:prstGeom prst="rect">
            <a:avLst/>
          </a:prstGeom>
          <a:solidFill>
            <a:srgbClr val="1F3A6E"/>
          </a:solidFill>
          <a:ln w="12700">
            <a:solidFill>
              <a:srgbClr val="1F3A6E"/>
            </a:solidFill>
          </a:ln>
        </p:spPr>
        <p:txBody>
          <a:bodyPr lIns="45719" rIns="45719"/>
          <a:lstStyle/>
          <a:p>
            <a:endParaRPr/>
          </a:p>
        </p:txBody>
      </p:sp>
      <p:sp>
        <p:nvSpPr>
          <p:cNvPr id="244" name="Text 2"/>
          <p:cNvSpPr txBox="1"/>
          <p:nvPr/>
        </p:nvSpPr>
        <p:spPr>
          <a:xfrm>
            <a:off x="45719" y="4894615"/>
            <a:ext cx="9052562"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a:solidFill>
                  <a:srgbClr val="8A9BBB"/>
                </a:solidFill>
              </a:defRPr>
            </a:lvl1pPr>
          </a:lstStyle>
          <a:p>
            <a:r>
              <a:t>AI Minor Course  |  Department of Chemical Engineering  |  2025–2026</a:t>
            </a:r>
          </a:p>
        </p:txBody>
      </p:sp>
      <p:sp>
        <p:nvSpPr>
          <p:cNvPr id="245" name="Shape 3"/>
          <p:cNvSpPr/>
          <p:nvPr/>
        </p:nvSpPr>
        <p:spPr>
          <a:xfrm>
            <a:off x="384047" y="164592"/>
            <a:ext cx="2011681" cy="256032"/>
          </a:xfrm>
          <a:prstGeom prst="roundRect">
            <a:avLst>
              <a:gd name="adj" fmla="val 21429"/>
            </a:avLst>
          </a:prstGeom>
          <a:solidFill>
            <a:srgbClr val="D6E4F7"/>
          </a:solidFill>
          <a:ln w="12700">
            <a:solidFill>
              <a:srgbClr val="2E6DB4"/>
            </a:solidFill>
          </a:ln>
        </p:spPr>
        <p:txBody>
          <a:bodyPr lIns="45719" rIns="45719"/>
          <a:lstStyle/>
          <a:p>
            <a:endParaRPr/>
          </a:p>
        </p:txBody>
      </p:sp>
      <p:sp>
        <p:nvSpPr>
          <p:cNvPr id="246" name="Text 4"/>
          <p:cNvSpPr txBox="1"/>
          <p:nvPr/>
        </p:nvSpPr>
        <p:spPr>
          <a:xfrm>
            <a:off x="429768" y="194599"/>
            <a:ext cx="1920239"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b="1">
                <a:solidFill>
                  <a:srgbClr val="2E6DB4"/>
                </a:solidFill>
              </a:defRPr>
            </a:lvl1pPr>
          </a:lstStyle>
          <a:p>
            <a:r>
              <a:t>SENSITIVITY ANALYSIS</a:t>
            </a:r>
          </a:p>
        </p:txBody>
      </p:sp>
      <p:sp>
        <p:nvSpPr>
          <p:cNvPr id="247" name="Text 5"/>
          <p:cNvSpPr txBox="1"/>
          <p:nvPr/>
        </p:nvSpPr>
        <p:spPr>
          <a:xfrm>
            <a:off x="384047" y="690996"/>
            <a:ext cx="8375906" cy="3462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600" b="1">
                <a:solidFill>
                  <a:srgbClr val="1F3A6E"/>
                </a:solidFill>
              </a:defRPr>
            </a:lvl1pPr>
          </a:lstStyle>
          <a:p>
            <a:r>
              <a:t>Which Variables Matter Most?</a:t>
            </a:r>
          </a:p>
        </p:txBody>
      </p:sp>
      <p:sp>
        <p:nvSpPr>
          <p:cNvPr id="248" name="Shape 6"/>
          <p:cNvSpPr/>
          <p:nvPr/>
        </p:nvSpPr>
        <p:spPr>
          <a:xfrm>
            <a:off x="384047" y="1371600"/>
            <a:ext cx="2706626" cy="3401568"/>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249" name="Shape 7"/>
          <p:cNvSpPr/>
          <p:nvPr/>
        </p:nvSpPr>
        <p:spPr>
          <a:xfrm>
            <a:off x="384047" y="1371600"/>
            <a:ext cx="2706626" cy="64008"/>
          </a:xfrm>
          <a:prstGeom prst="rect">
            <a:avLst/>
          </a:prstGeom>
          <a:solidFill>
            <a:srgbClr val="2E6DB4"/>
          </a:solidFill>
          <a:ln w="12700">
            <a:solidFill>
              <a:srgbClr val="2E6DB4"/>
            </a:solidFill>
          </a:ln>
        </p:spPr>
        <p:txBody>
          <a:bodyPr lIns="45719" rIns="45719"/>
          <a:lstStyle/>
          <a:p>
            <a:endParaRPr/>
          </a:p>
        </p:txBody>
      </p:sp>
      <p:sp>
        <p:nvSpPr>
          <p:cNvPr id="250" name="Shape 8"/>
          <p:cNvSpPr/>
          <p:nvPr/>
        </p:nvSpPr>
        <p:spPr>
          <a:xfrm>
            <a:off x="493776" y="1499616"/>
            <a:ext cx="1005840" cy="228601"/>
          </a:xfrm>
          <a:prstGeom prst="roundRect">
            <a:avLst>
              <a:gd name="adj" fmla="val 24000"/>
            </a:avLst>
          </a:prstGeom>
          <a:solidFill>
            <a:srgbClr val="2E6DB4"/>
          </a:solidFill>
          <a:ln w="12700">
            <a:solidFill>
              <a:srgbClr val="2E6DB4"/>
            </a:solidFill>
          </a:ln>
        </p:spPr>
        <p:txBody>
          <a:bodyPr lIns="45719" rIns="45719"/>
          <a:lstStyle/>
          <a:p>
            <a:endParaRPr/>
          </a:p>
        </p:txBody>
      </p:sp>
      <p:sp>
        <p:nvSpPr>
          <p:cNvPr id="251" name="Text 9"/>
          <p:cNvSpPr txBox="1"/>
          <p:nvPr/>
        </p:nvSpPr>
        <p:spPr>
          <a:xfrm>
            <a:off x="539496" y="1520856"/>
            <a:ext cx="914400" cy="1861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700" b="1">
                <a:solidFill>
                  <a:srgbClr val="FFFFFF"/>
                </a:solidFill>
              </a:defRPr>
            </a:lvl1pPr>
          </a:lstStyle>
          <a:p>
            <a:r>
              <a:t>High Impact</a:t>
            </a:r>
          </a:p>
        </p:txBody>
      </p:sp>
      <p:sp>
        <p:nvSpPr>
          <p:cNvPr id="252" name="Text 10"/>
          <p:cNvSpPr txBox="1"/>
          <p:nvPr/>
        </p:nvSpPr>
        <p:spPr>
          <a:xfrm>
            <a:off x="539495" y="1860095"/>
            <a:ext cx="2377442" cy="2483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b="1">
                <a:solidFill>
                  <a:srgbClr val="1F3A6E"/>
                </a:solidFill>
              </a:defRPr>
            </a:lvl1pPr>
          </a:lstStyle>
          <a:p>
            <a:r>
              <a:t>TOA Extractant %</a:t>
            </a:r>
          </a:p>
        </p:txBody>
      </p:sp>
      <p:sp>
        <p:nvSpPr>
          <p:cNvPr id="253" name="Text 11"/>
          <p:cNvSpPr txBox="1"/>
          <p:nvPr/>
        </p:nvSpPr>
        <p:spPr>
          <a:xfrm>
            <a:off x="539495" y="2173899"/>
            <a:ext cx="2377442"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8A9BBB"/>
                </a:solidFill>
              </a:defRPr>
            </a:lvl1pPr>
          </a:lstStyle>
          <a:p>
            <a:r>
              <a:t>Range: 1% → 40%</a:t>
            </a:r>
          </a:p>
        </p:txBody>
      </p:sp>
      <p:sp>
        <p:nvSpPr>
          <p:cNvPr id="254" name="Text 12"/>
          <p:cNvSpPr txBox="1"/>
          <p:nvPr/>
        </p:nvSpPr>
        <p:spPr>
          <a:xfrm>
            <a:off x="539496" y="2407071"/>
            <a:ext cx="822961"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8A9BBB"/>
                </a:solidFill>
              </a:defRPr>
            </a:lvl1pPr>
          </a:lstStyle>
          <a:p>
            <a:r>
              <a:t>%Y swing:</a:t>
            </a:r>
          </a:p>
        </p:txBody>
      </p:sp>
      <p:sp>
        <p:nvSpPr>
          <p:cNvPr id="255" name="Text 13"/>
          <p:cNvSpPr txBox="1"/>
          <p:nvPr/>
        </p:nvSpPr>
        <p:spPr>
          <a:xfrm>
            <a:off x="1344167" y="2395727"/>
            <a:ext cx="1572768"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a:solidFill>
                  <a:srgbClr val="2E6DB4"/>
                </a:solidFill>
              </a:defRPr>
            </a:lvl1pPr>
          </a:lstStyle>
          <a:p>
            <a:r>
              <a:t>78.6% → 99%</a:t>
            </a:r>
          </a:p>
        </p:txBody>
      </p:sp>
      <p:sp>
        <p:nvSpPr>
          <p:cNvPr id="256" name="Shape 14"/>
          <p:cNvSpPr/>
          <p:nvPr/>
        </p:nvSpPr>
        <p:spPr>
          <a:xfrm>
            <a:off x="493776" y="2724911"/>
            <a:ext cx="2487169" cy="1"/>
          </a:xfrm>
          <a:prstGeom prst="line">
            <a:avLst/>
          </a:prstGeom>
          <a:ln w="12700">
            <a:solidFill>
              <a:srgbClr val="D0D9EE"/>
            </a:solidFill>
          </a:ln>
        </p:spPr>
        <p:txBody>
          <a:bodyPr lIns="45719" rIns="45719"/>
          <a:lstStyle/>
          <a:p>
            <a:endParaRPr/>
          </a:p>
        </p:txBody>
      </p:sp>
      <p:sp>
        <p:nvSpPr>
          <p:cNvPr id="257" name="Text 15"/>
          <p:cNvSpPr txBox="1"/>
          <p:nvPr/>
        </p:nvSpPr>
        <p:spPr>
          <a:xfrm>
            <a:off x="539496" y="3082457"/>
            <a:ext cx="2395728" cy="3456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3A4A6A"/>
                </a:solidFill>
              </a:defRPr>
            </a:lvl1pPr>
          </a:lstStyle>
          <a:p>
            <a:r>
              <a:t>Strong positive effect. Extraction rises sharply until ~25%, then plateaus as extractant saturates.</a:t>
            </a:r>
          </a:p>
        </p:txBody>
      </p:sp>
      <p:sp>
        <p:nvSpPr>
          <p:cNvPr id="258" name="Shape 16"/>
          <p:cNvSpPr/>
          <p:nvPr/>
        </p:nvSpPr>
        <p:spPr>
          <a:xfrm>
            <a:off x="3291840" y="1371600"/>
            <a:ext cx="2706625" cy="3401568"/>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259" name="Shape 17"/>
          <p:cNvSpPr/>
          <p:nvPr/>
        </p:nvSpPr>
        <p:spPr>
          <a:xfrm>
            <a:off x="3291840" y="1371600"/>
            <a:ext cx="2706625" cy="64008"/>
          </a:xfrm>
          <a:prstGeom prst="rect">
            <a:avLst/>
          </a:prstGeom>
          <a:solidFill>
            <a:srgbClr val="0D7377"/>
          </a:solidFill>
          <a:ln w="12700">
            <a:solidFill>
              <a:srgbClr val="0D7377"/>
            </a:solidFill>
          </a:ln>
        </p:spPr>
        <p:txBody>
          <a:bodyPr lIns="45719" rIns="45719"/>
          <a:lstStyle/>
          <a:p>
            <a:endParaRPr/>
          </a:p>
        </p:txBody>
      </p:sp>
      <p:sp>
        <p:nvSpPr>
          <p:cNvPr id="260" name="Shape 18"/>
          <p:cNvSpPr/>
          <p:nvPr/>
        </p:nvSpPr>
        <p:spPr>
          <a:xfrm>
            <a:off x="3401567" y="1499616"/>
            <a:ext cx="1005841" cy="228601"/>
          </a:xfrm>
          <a:prstGeom prst="roundRect">
            <a:avLst>
              <a:gd name="adj" fmla="val 24000"/>
            </a:avLst>
          </a:prstGeom>
          <a:solidFill>
            <a:srgbClr val="0D7377"/>
          </a:solidFill>
          <a:ln w="12700">
            <a:solidFill>
              <a:srgbClr val="0D7377"/>
            </a:solidFill>
          </a:ln>
        </p:spPr>
        <p:txBody>
          <a:bodyPr lIns="45719" rIns="45719"/>
          <a:lstStyle/>
          <a:p>
            <a:endParaRPr/>
          </a:p>
        </p:txBody>
      </p:sp>
      <p:sp>
        <p:nvSpPr>
          <p:cNvPr id="261" name="Text 19"/>
          <p:cNvSpPr txBox="1"/>
          <p:nvPr/>
        </p:nvSpPr>
        <p:spPr>
          <a:xfrm>
            <a:off x="3447287" y="1520856"/>
            <a:ext cx="914400" cy="1861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700" b="1">
                <a:solidFill>
                  <a:srgbClr val="FFFFFF"/>
                </a:solidFill>
              </a:defRPr>
            </a:lvl1pPr>
          </a:lstStyle>
          <a:p>
            <a:r>
              <a:t>High Impact</a:t>
            </a:r>
          </a:p>
        </p:txBody>
      </p:sp>
      <p:sp>
        <p:nvSpPr>
          <p:cNvPr id="262" name="Text 20"/>
          <p:cNvSpPr txBox="1"/>
          <p:nvPr/>
        </p:nvSpPr>
        <p:spPr>
          <a:xfrm>
            <a:off x="3447287" y="1860095"/>
            <a:ext cx="2377442" cy="2483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b="1">
                <a:solidFill>
                  <a:srgbClr val="1F3A6E"/>
                </a:solidFill>
              </a:defRPr>
            </a:lvl1pPr>
          </a:lstStyle>
          <a:p>
            <a:r>
              <a:t>DCM Modifier %</a:t>
            </a:r>
          </a:p>
        </p:txBody>
      </p:sp>
      <p:sp>
        <p:nvSpPr>
          <p:cNvPr id="263" name="Text 21"/>
          <p:cNvSpPr txBox="1"/>
          <p:nvPr/>
        </p:nvSpPr>
        <p:spPr>
          <a:xfrm>
            <a:off x="3447287" y="2173899"/>
            <a:ext cx="2377442"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8A9BBB"/>
                </a:solidFill>
              </a:defRPr>
            </a:lvl1pPr>
          </a:lstStyle>
          <a:p>
            <a:r>
              <a:t>Range: 10% → 100%</a:t>
            </a:r>
          </a:p>
        </p:txBody>
      </p:sp>
      <p:sp>
        <p:nvSpPr>
          <p:cNvPr id="264" name="Text 22"/>
          <p:cNvSpPr txBox="1"/>
          <p:nvPr/>
        </p:nvSpPr>
        <p:spPr>
          <a:xfrm>
            <a:off x="3447287" y="2407071"/>
            <a:ext cx="822961"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8A9BBB"/>
                </a:solidFill>
              </a:defRPr>
            </a:lvl1pPr>
          </a:lstStyle>
          <a:p>
            <a:r>
              <a:t>%Y swing:</a:t>
            </a:r>
          </a:p>
        </p:txBody>
      </p:sp>
      <p:sp>
        <p:nvSpPr>
          <p:cNvPr id="265" name="Text 23"/>
          <p:cNvSpPr txBox="1"/>
          <p:nvPr/>
        </p:nvSpPr>
        <p:spPr>
          <a:xfrm>
            <a:off x="4251960" y="2395727"/>
            <a:ext cx="1572768"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a:solidFill>
                  <a:srgbClr val="0D7377"/>
                </a:solidFill>
              </a:defRPr>
            </a:lvl1pPr>
          </a:lstStyle>
          <a:p>
            <a:r>
              <a:t>75.3% → 99%</a:t>
            </a:r>
          </a:p>
        </p:txBody>
      </p:sp>
      <p:sp>
        <p:nvSpPr>
          <p:cNvPr id="266" name="Shape 24"/>
          <p:cNvSpPr/>
          <p:nvPr/>
        </p:nvSpPr>
        <p:spPr>
          <a:xfrm>
            <a:off x="3401567" y="2724911"/>
            <a:ext cx="2487170" cy="1"/>
          </a:xfrm>
          <a:prstGeom prst="line">
            <a:avLst/>
          </a:prstGeom>
          <a:ln w="12700">
            <a:solidFill>
              <a:srgbClr val="D0D9EE"/>
            </a:solidFill>
          </a:ln>
        </p:spPr>
        <p:txBody>
          <a:bodyPr lIns="45719" rIns="45719"/>
          <a:lstStyle/>
          <a:p>
            <a:endParaRPr/>
          </a:p>
        </p:txBody>
      </p:sp>
      <p:sp>
        <p:nvSpPr>
          <p:cNvPr id="267" name="Text 25"/>
          <p:cNvSpPr txBox="1"/>
          <p:nvPr/>
        </p:nvSpPr>
        <p:spPr>
          <a:xfrm>
            <a:off x="3447287" y="3082457"/>
            <a:ext cx="2395729" cy="3456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3A4A6A"/>
                </a:solidFill>
              </a:defRPr>
            </a:lvl1pPr>
          </a:lstStyle>
          <a:p>
            <a:r>
              <a:t>Monotonically increasing. DCM improves organic phase solvation. Plateau above 71%.</a:t>
            </a:r>
          </a:p>
        </p:txBody>
      </p:sp>
      <p:sp>
        <p:nvSpPr>
          <p:cNvPr id="268" name="Shape 26"/>
          <p:cNvSpPr/>
          <p:nvPr/>
        </p:nvSpPr>
        <p:spPr>
          <a:xfrm>
            <a:off x="6199631" y="1371600"/>
            <a:ext cx="2706626" cy="3401568"/>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269" name="Shape 27"/>
          <p:cNvSpPr/>
          <p:nvPr/>
        </p:nvSpPr>
        <p:spPr>
          <a:xfrm>
            <a:off x="6199631" y="1371600"/>
            <a:ext cx="2706626" cy="64008"/>
          </a:xfrm>
          <a:prstGeom prst="rect">
            <a:avLst/>
          </a:prstGeom>
          <a:solidFill>
            <a:srgbClr val="E8A838"/>
          </a:solidFill>
          <a:ln w="12700">
            <a:solidFill>
              <a:srgbClr val="E8A838"/>
            </a:solidFill>
          </a:ln>
        </p:spPr>
        <p:txBody>
          <a:bodyPr lIns="45719" rIns="45719"/>
          <a:lstStyle/>
          <a:p>
            <a:endParaRPr/>
          </a:p>
        </p:txBody>
      </p:sp>
      <p:sp>
        <p:nvSpPr>
          <p:cNvPr id="270" name="Shape 28"/>
          <p:cNvSpPr/>
          <p:nvPr/>
        </p:nvSpPr>
        <p:spPr>
          <a:xfrm>
            <a:off x="6309359" y="1499616"/>
            <a:ext cx="1005841" cy="228601"/>
          </a:xfrm>
          <a:prstGeom prst="roundRect">
            <a:avLst>
              <a:gd name="adj" fmla="val 24000"/>
            </a:avLst>
          </a:prstGeom>
          <a:solidFill>
            <a:srgbClr val="E8A838"/>
          </a:solidFill>
          <a:ln w="12700">
            <a:solidFill>
              <a:srgbClr val="E8A838"/>
            </a:solidFill>
          </a:ln>
        </p:spPr>
        <p:txBody>
          <a:bodyPr lIns="45719" rIns="45719"/>
          <a:lstStyle/>
          <a:p>
            <a:endParaRPr/>
          </a:p>
        </p:txBody>
      </p:sp>
      <p:sp>
        <p:nvSpPr>
          <p:cNvPr id="271" name="Text 29"/>
          <p:cNvSpPr txBox="1"/>
          <p:nvPr/>
        </p:nvSpPr>
        <p:spPr>
          <a:xfrm>
            <a:off x="6355079" y="1520856"/>
            <a:ext cx="914400" cy="1861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700" b="1">
                <a:solidFill>
                  <a:srgbClr val="FFFFFF"/>
                </a:solidFill>
              </a:defRPr>
            </a:lvl1pPr>
          </a:lstStyle>
          <a:p>
            <a:r>
              <a:t>Narrow Optimum</a:t>
            </a:r>
          </a:p>
        </p:txBody>
      </p:sp>
      <p:sp>
        <p:nvSpPr>
          <p:cNvPr id="272" name="Text 30"/>
          <p:cNvSpPr txBox="1"/>
          <p:nvPr/>
        </p:nvSpPr>
        <p:spPr>
          <a:xfrm>
            <a:off x="6355079" y="1860095"/>
            <a:ext cx="2377441" cy="2483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b="1">
                <a:solidFill>
                  <a:srgbClr val="1F3A6E"/>
                </a:solidFill>
              </a:defRPr>
            </a:lvl1pPr>
          </a:lstStyle>
          <a:p>
            <a:r>
              <a:t>Acid Concentration</a:t>
            </a:r>
          </a:p>
        </p:txBody>
      </p:sp>
      <p:sp>
        <p:nvSpPr>
          <p:cNvPr id="273" name="Text 31"/>
          <p:cNvSpPr txBox="1"/>
          <p:nvPr/>
        </p:nvSpPr>
        <p:spPr>
          <a:xfrm>
            <a:off x="6355079" y="2173899"/>
            <a:ext cx="2377441"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8A9BBB"/>
                </a:solidFill>
              </a:defRPr>
            </a:lvl1pPr>
          </a:lstStyle>
          <a:p>
            <a:r>
              <a:t>Range: 0.01 → 0.15 mol/L</a:t>
            </a:r>
          </a:p>
        </p:txBody>
      </p:sp>
      <p:sp>
        <p:nvSpPr>
          <p:cNvPr id="274" name="Text 32"/>
          <p:cNvSpPr txBox="1"/>
          <p:nvPr/>
        </p:nvSpPr>
        <p:spPr>
          <a:xfrm>
            <a:off x="6355079" y="2407071"/>
            <a:ext cx="822961"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8A9BBB"/>
                </a:solidFill>
              </a:defRPr>
            </a:lvl1pPr>
          </a:lstStyle>
          <a:p>
            <a:r>
              <a:t>%Y swing:</a:t>
            </a:r>
          </a:p>
        </p:txBody>
      </p:sp>
      <p:sp>
        <p:nvSpPr>
          <p:cNvPr id="275" name="Text 33"/>
          <p:cNvSpPr txBox="1"/>
          <p:nvPr/>
        </p:nvSpPr>
        <p:spPr>
          <a:xfrm>
            <a:off x="7159751" y="2395727"/>
            <a:ext cx="1572768"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a:solidFill>
                  <a:srgbClr val="E8A838"/>
                </a:solidFill>
              </a:defRPr>
            </a:lvl1pPr>
          </a:lstStyle>
          <a:p>
            <a:r>
              <a:t>Peak near 0.072</a:t>
            </a:r>
          </a:p>
        </p:txBody>
      </p:sp>
      <p:sp>
        <p:nvSpPr>
          <p:cNvPr id="276" name="Shape 34"/>
          <p:cNvSpPr/>
          <p:nvPr/>
        </p:nvSpPr>
        <p:spPr>
          <a:xfrm>
            <a:off x="6309359" y="2724911"/>
            <a:ext cx="2487169" cy="1"/>
          </a:xfrm>
          <a:prstGeom prst="line">
            <a:avLst/>
          </a:prstGeom>
          <a:ln w="12700">
            <a:solidFill>
              <a:srgbClr val="D0D9EE"/>
            </a:solidFill>
          </a:ln>
        </p:spPr>
        <p:txBody>
          <a:bodyPr lIns="45719" rIns="45719"/>
          <a:lstStyle/>
          <a:p>
            <a:endParaRPr/>
          </a:p>
        </p:txBody>
      </p:sp>
      <p:sp>
        <p:nvSpPr>
          <p:cNvPr id="277" name="Text 35"/>
          <p:cNvSpPr txBox="1"/>
          <p:nvPr/>
        </p:nvSpPr>
        <p:spPr>
          <a:xfrm>
            <a:off x="6355079" y="3082457"/>
            <a:ext cx="2395729" cy="3456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3A4A6A"/>
                </a:solidFill>
              </a:defRPr>
            </a:lvl1pPr>
          </a:lstStyle>
          <a:p>
            <a:r>
              <a:t>Narrow optimal window. Too low = insufficient substrate; too high = excess disrupts equilibrium.</a:t>
            </a:r>
          </a:p>
        </p:txBody>
      </p:sp>
      <p:sp>
        <p:nvSpPr>
          <p:cNvPr id="278" name="Text 36"/>
          <p:cNvSpPr txBox="1"/>
          <p:nvPr/>
        </p:nvSpPr>
        <p:spPr>
          <a:xfrm>
            <a:off x="429767" y="4624491"/>
            <a:ext cx="8284466"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900" i="1">
                <a:solidFill>
                  <a:srgbClr val="8A9BBB"/>
                </a:solidFill>
              </a:defRPr>
            </a:lvl1pPr>
          </a:lstStyle>
          <a:p>
            <a:r>
              <a:t>Relative Variable Importance (% Y swing)</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Shape 0"/>
          <p:cNvSpPr/>
          <p:nvPr/>
        </p:nvSpPr>
        <p:spPr>
          <a:xfrm>
            <a:off x="0" y="0"/>
            <a:ext cx="9144000" cy="64008"/>
          </a:xfrm>
          <a:prstGeom prst="rect">
            <a:avLst/>
          </a:prstGeom>
          <a:solidFill>
            <a:srgbClr val="1F3A6E"/>
          </a:solidFill>
          <a:ln w="12700">
            <a:solidFill>
              <a:srgbClr val="1F3A6E"/>
            </a:solidFill>
          </a:ln>
        </p:spPr>
        <p:txBody>
          <a:bodyPr lIns="45719" rIns="45719"/>
          <a:lstStyle/>
          <a:p>
            <a:endParaRPr/>
          </a:p>
        </p:txBody>
      </p:sp>
      <p:sp>
        <p:nvSpPr>
          <p:cNvPr id="281" name="Shape 1"/>
          <p:cNvSpPr/>
          <p:nvPr/>
        </p:nvSpPr>
        <p:spPr>
          <a:xfrm>
            <a:off x="0" y="5074920"/>
            <a:ext cx="9144000" cy="68581"/>
          </a:xfrm>
          <a:prstGeom prst="rect">
            <a:avLst/>
          </a:prstGeom>
          <a:solidFill>
            <a:srgbClr val="1F3A6E"/>
          </a:solidFill>
          <a:ln w="12700">
            <a:solidFill>
              <a:srgbClr val="1F3A6E"/>
            </a:solidFill>
          </a:ln>
        </p:spPr>
        <p:txBody>
          <a:bodyPr lIns="45719" rIns="45719"/>
          <a:lstStyle/>
          <a:p>
            <a:endParaRPr/>
          </a:p>
        </p:txBody>
      </p:sp>
      <p:sp>
        <p:nvSpPr>
          <p:cNvPr id="282" name="Text 2"/>
          <p:cNvSpPr txBox="1"/>
          <p:nvPr/>
        </p:nvSpPr>
        <p:spPr>
          <a:xfrm>
            <a:off x="45719" y="4894615"/>
            <a:ext cx="9052562"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a:solidFill>
                  <a:srgbClr val="8A9BBB"/>
                </a:solidFill>
              </a:defRPr>
            </a:lvl1pPr>
          </a:lstStyle>
          <a:p>
            <a:r>
              <a:t>AI Minor Course  |  Department of Chemical Engineering  |  2025–2026</a:t>
            </a:r>
          </a:p>
        </p:txBody>
      </p:sp>
      <p:sp>
        <p:nvSpPr>
          <p:cNvPr id="283" name="Shape 3"/>
          <p:cNvSpPr/>
          <p:nvPr/>
        </p:nvSpPr>
        <p:spPr>
          <a:xfrm>
            <a:off x="384047" y="164592"/>
            <a:ext cx="1924813" cy="256032"/>
          </a:xfrm>
          <a:prstGeom prst="roundRect">
            <a:avLst>
              <a:gd name="adj" fmla="val 21429"/>
            </a:avLst>
          </a:prstGeom>
          <a:solidFill>
            <a:srgbClr val="D6E4F7"/>
          </a:solidFill>
          <a:ln w="12700">
            <a:solidFill>
              <a:srgbClr val="2E6DB4"/>
            </a:solidFill>
          </a:ln>
        </p:spPr>
        <p:txBody>
          <a:bodyPr lIns="45719" rIns="45719"/>
          <a:lstStyle/>
          <a:p>
            <a:endParaRPr/>
          </a:p>
        </p:txBody>
      </p:sp>
      <p:sp>
        <p:nvSpPr>
          <p:cNvPr id="284" name="Text 4"/>
          <p:cNvSpPr txBox="1"/>
          <p:nvPr/>
        </p:nvSpPr>
        <p:spPr>
          <a:xfrm>
            <a:off x="429768" y="194599"/>
            <a:ext cx="1833372"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b="1">
                <a:solidFill>
                  <a:srgbClr val="2E6DB4"/>
                </a:solidFill>
              </a:defRPr>
            </a:lvl1pPr>
          </a:lstStyle>
          <a:p>
            <a:r>
              <a:t>CRITICAL EVALUATION</a:t>
            </a:r>
          </a:p>
        </p:txBody>
      </p:sp>
      <p:sp>
        <p:nvSpPr>
          <p:cNvPr id="285" name="Text 5"/>
          <p:cNvSpPr txBox="1"/>
          <p:nvPr/>
        </p:nvSpPr>
        <p:spPr>
          <a:xfrm>
            <a:off x="384047" y="690996"/>
            <a:ext cx="8375906" cy="3462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600" b="1">
                <a:solidFill>
                  <a:srgbClr val="1F3A6E"/>
                </a:solidFill>
              </a:defRPr>
            </a:lvl1pPr>
          </a:lstStyle>
          <a:p>
            <a:r>
              <a:t>Advantages &amp; Limitations of ANN</a:t>
            </a:r>
          </a:p>
        </p:txBody>
      </p:sp>
      <p:sp>
        <p:nvSpPr>
          <p:cNvPr id="286" name="Shape 6"/>
          <p:cNvSpPr/>
          <p:nvPr/>
        </p:nvSpPr>
        <p:spPr>
          <a:xfrm>
            <a:off x="384048" y="1325880"/>
            <a:ext cx="4069080" cy="347473"/>
          </a:xfrm>
          <a:prstGeom prst="rect">
            <a:avLst/>
          </a:prstGeom>
          <a:solidFill>
            <a:srgbClr val="1B7A4E"/>
          </a:solidFill>
          <a:ln w="12700">
            <a:solidFill>
              <a:srgbClr val="1B7A4E"/>
            </a:solidFill>
          </a:ln>
        </p:spPr>
        <p:txBody>
          <a:bodyPr lIns="45719" rIns="45719"/>
          <a:lstStyle/>
          <a:p>
            <a:endParaRPr/>
          </a:p>
        </p:txBody>
      </p:sp>
      <p:sp>
        <p:nvSpPr>
          <p:cNvPr id="287" name="Text 7"/>
          <p:cNvSpPr txBox="1"/>
          <p:nvPr/>
        </p:nvSpPr>
        <p:spPr>
          <a:xfrm>
            <a:off x="429768" y="1386762"/>
            <a:ext cx="3977640" cy="225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100" b="1" spc="200">
                <a:solidFill>
                  <a:srgbClr val="FFFFFF"/>
                </a:solidFill>
              </a:defRPr>
            </a:lvl1pPr>
          </a:lstStyle>
          <a:p>
            <a:r>
              <a:t>ADVANTAGES</a:t>
            </a:r>
          </a:p>
        </p:txBody>
      </p:sp>
      <p:sp>
        <p:nvSpPr>
          <p:cNvPr id="288" name="Shape 8"/>
          <p:cNvSpPr/>
          <p:nvPr/>
        </p:nvSpPr>
        <p:spPr>
          <a:xfrm>
            <a:off x="475487" y="1828799"/>
            <a:ext cx="182881" cy="182882"/>
          </a:xfrm>
          <a:prstGeom prst="ellipse">
            <a:avLst/>
          </a:prstGeom>
          <a:solidFill>
            <a:srgbClr val="1B7A4E"/>
          </a:solidFill>
          <a:ln w="12700">
            <a:solidFill>
              <a:srgbClr val="1B7A4E"/>
            </a:solidFill>
          </a:ln>
        </p:spPr>
        <p:txBody>
          <a:bodyPr lIns="45719" rIns="45719"/>
          <a:lstStyle/>
          <a:p>
            <a:endParaRPr/>
          </a:p>
        </p:txBody>
      </p:sp>
      <p:sp>
        <p:nvSpPr>
          <p:cNvPr id="289" name="Text 9"/>
          <p:cNvSpPr txBox="1"/>
          <p:nvPr/>
        </p:nvSpPr>
        <p:spPr>
          <a:xfrm>
            <a:off x="777239" y="1787696"/>
            <a:ext cx="3474721"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a:solidFill>
                  <a:srgbClr val="1F3A6E"/>
                </a:solidFill>
              </a:defRPr>
            </a:lvl1pPr>
          </a:lstStyle>
          <a:p>
            <a:r>
              <a:t>Universal approximator</a:t>
            </a:r>
          </a:p>
        </p:txBody>
      </p:sp>
      <p:sp>
        <p:nvSpPr>
          <p:cNvPr id="290" name="Text 10"/>
          <p:cNvSpPr txBox="1"/>
          <p:nvPr/>
        </p:nvSpPr>
        <p:spPr>
          <a:xfrm>
            <a:off x="777239" y="2032543"/>
            <a:ext cx="3474721" cy="1960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Can model any nonlinear function — no equation assumed</a:t>
            </a:r>
          </a:p>
        </p:txBody>
      </p:sp>
      <p:sp>
        <p:nvSpPr>
          <p:cNvPr id="291" name="Shape 11"/>
          <p:cNvSpPr/>
          <p:nvPr/>
        </p:nvSpPr>
        <p:spPr>
          <a:xfrm>
            <a:off x="475487" y="2395727"/>
            <a:ext cx="182881" cy="182881"/>
          </a:xfrm>
          <a:prstGeom prst="ellipse">
            <a:avLst/>
          </a:prstGeom>
          <a:solidFill>
            <a:srgbClr val="1B7A4E"/>
          </a:solidFill>
          <a:ln w="12700">
            <a:solidFill>
              <a:srgbClr val="1B7A4E"/>
            </a:solidFill>
          </a:ln>
        </p:spPr>
        <p:txBody>
          <a:bodyPr lIns="45719" rIns="45719"/>
          <a:lstStyle/>
          <a:p>
            <a:endParaRPr/>
          </a:p>
        </p:txBody>
      </p:sp>
      <p:sp>
        <p:nvSpPr>
          <p:cNvPr id="292" name="Text 12"/>
          <p:cNvSpPr txBox="1"/>
          <p:nvPr/>
        </p:nvSpPr>
        <p:spPr>
          <a:xfrm>
            <a:off x="777239" y="2354624"/>
            <a:ext cx="3474721"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a:solidFill>
                  <a:srgbClr val="1F3A6E"/>
                </a:solidFill>
              </a:defRPr>
            </a:lvl1pPr>
          </a:lstStyle>
          <a:p>
            <a:r>
              <a:t>Higher accuracy</a:t>
            </a:r>
          </a:p>
        </p:txBody>
      </p:sp>
      <p:sp>
        <p:nvSpPr>
          <p:cNvPr id="293" name="Text 13"/>
          <p:cNvSpPr txBox="1"/>
          <p:nvPr/>
        </p:nvSpPr>
        <p:spPr>
          <a:xfrm>
            <a:off x="777239" y="2599471"/>
            <a:ext cx="3474721" cy="1960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R² = 0.9875 vs RSM's ~0.97 on same system</a:t>
            </a:r>
          </a:p>
        </p:txBody>
      </p:sp>
      <p:sp>
        <p:nvSpPr>
          <p:cNvPr id="294" name="Shape 14"/>
          <p:cNvSpPr/>
          <p:nvPr/>
        </p:nvSpPr>
        <p:spPr>
          <a:xfrm>
            <a:off x="475487" y="2962655"/>
            <a:ext cx="182881" cy="182881"/>
          </a:xfrm>
          <a:prstGeom prst="ellipse">
            <a:avLst/>
          </a:prstGeom>
          <a:solidFill>
            <a:srgbClr val="1B7A4E"/>
          </a:solidFill>
          <a:ln w="12700">
            <a:solidFill>
              <a:srgbClr val="1B7A4E"/>
            </a:solidFill>
          </a:ln>
        </p:spPr>
        <p:txBody>
          <a:bodyPr lIns="45719" rIns="45719"/>
          <a:lstStyle/>
          <a:p>
            <a:endParaRPr/>
          </a:p>
        </p:txBody>
      </p:sp>
      <p:sp>
        <p:nvSpPr>
          <p:cNvPr id="295" name="Text 15"/>
          <p:cNvSpPr txBox="1"/>
          <p:nvPr/>
        </p:nvSpPr>
        <p:spPr>
          <a:xfrm>
            <a:off x="777239" y="2921552"/>
            <a:ext cx="3474721"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a:solidFill>
                  <a:srgbClr val="1F3A6E"/>
                </a:solidFill>
              </a:defRPr>
            </a:lvl1pPr>
          </a:lstStyle>
          <a:p>
            <a:r>
              <a:t>No prior knowledge</a:t>
            </a:r>
          </a:p>
        </p:txBody>
      </p:sp>
      <p:sp>
        <p:nvSpPr>
          <p:cNvPr id="296" name="Text 16"/>
          <p:cNvSpPr txBox="1"/>
          <p:nvPr/>
        </p:nvSpPr>
        <p:spPr>
          <a:xfrm>
            <a:off x="777239" y="3166399"/>
            <a:ext cx="3474721" cy="1960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Learns from data alone — no thermodynamic params needed</a:t>
            </a:r>
          </a:p>
        </p:txBody>
      </p:sp>
      <p:sp>
        <p:nvSpPr>
          <p:cNvPr id="297" name="Shape 17"/>
          <p:cNvSpPr/>
          <p:nvPr/>
        </p:nvSpPr>
        <p:spPr>
          <a:xfrm>
            <a:off x="475487" y="3529584"/>
            <a:ext cx="182881" cy="182881"/>
          </a:xfrm>
          <a:prstGeom prst="ellipse">
            <a:avLst/>
          </a:prstGeom>
          <a:solidFill>
            <a:srgbClr val="1B7A4E"/>
          </a:solidFill>
          <a:ln w="12700">
            <a:solidFill>
              <a:srgbClr val="1B7A4E"/>
            </a:solidFill>
          </a:ln>
        </p:spPr>
        <p:txBody>
          <a:bodyPr lIns="45719" rIns="45719"/>
          <a:lstStyle/>
          <a:p>
            <a:endParaRPr/>
          </a:p>
        </p:txBody>
      </p:sp>
      <p:sp>
        <p:nvSpPr>
          <p:cNvPr id="298" name="Text 18"/>
          <p:cNvSpPr txBox="1"/>
          <p:nvPr/>
        </p:nvSpPr>
        <p:spPr>
          <a:xfrm>
            <a:off x="777239" y="3488480"/>
            <a:ext cx="3474721"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a:solidFill>
                  <a:srgbClr val="1F3A6E"/>
                </a:solidFill>
              </a:defRPr>
            </a:lvl1pPr>
          </a:lstStyle>
          <a:p>
            <a:r>
              <a:t>Instant predictions</a:t>
            </a:r>
          </a:p>
        </p:txBody>
      </p:sp>
      <p:sp>
        <p:nvSpPr>
          <p:cNvPr id="299" name="Text 19"/>
          <p:cNvSpPr txBox="1"/>
          <p:nvPr/>
        </p:nvSpPr>
        <p:spPr>
          <a:xfrm>
            <a:off x="777239" y="3733327"/>
            <a:ext cx="3474721" cy="1960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Millisecond inference after training; no new experiments</a:t>
            </a:r>
          </a:p>
        </p:txBody>
      </p:sp>
      <p:sp>
        <p:nvSpPr>
          <p:cNvPr id="300" name="Shape 20"/>
          <p:cNvSpPr/>
          <p:nvPr/>
        </p:nvSpPr>
        <p:spPr>
          <a:xfrm>
            <a:off x="475487" y="4096511"/>
            <a:ext cx="182881" cy="182881"/>
          </a:xfrm>
          <a:prstGeom prst="ellipse">
            <a:avLst/>
          </a:prstGeom>
          <a:solidFill>
            <a:srgbClr val="1B7A4E"/>
          </a:solidFill>
          <a:ln w="12700">
            <a:solidFill>
              <a:srgbClr val="1B7A4E"/>
            </a:solidFill>
          </a:ln>
        </p:spPr>
        <p:txBody>
          <a:bodyPr lIns="45719" rIns="45719"/>
          <a:lstStyle/>
          <a:p>
            <a:endParaRPr/>
          </a:p>
        </p:txBody>
      </p:sp>
      <p:sp>
        <p:nvSpPr>
          <p:cNvPr id="301" name="Text 21"/>
          <p:cNvSpPr txBox="1"/>
          <p:nvPr/>
        </p:nvSpPr>
        <p:spPr>
          <a:xfrm>
            <a:off x="777239" y="4055408"/>
            <a:ext cx="3474721"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a:solidFill>
                  <a:srgbClr val="1F3A6E"/>
                </a:solidFill>
              </a:defRPr>
            </a:lvl1pPr>
          </a:lstStyle>
          <a:p>
            <a:r>
              <a:t>Couples with optimizer</a:t>
            </a:r>
          </a:p>
        </p:txBody>
      </p:sp>
      <p:sp>
        <p:nvSpPr>
          <p:cNvPr id="302" name="Text 22"/>
          <p:cNvSpPr txBox="1"/>
          <p:nvPr/>
        </p:nvSpPr>
        <p:spPr>
          <a:xfrm>
            <a:off x="777239" y="4300255"/>
            <a:ext cx="3474721" cy="1960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Works with GA, PSO, or Differential Evolution for global optimum</a:t>
            </a:r>
          </a:p>
        </p:txBody>
      </p:sp>
      <p:sp>
        <p:nvSpPr>
          <p:cNvPr id="303" name="Shape 23"/>
          <p:cNvSpPr/>
          <p:nvPr/>
        </p:nvSpPr>
        <p:spPr>
          <a:xfrm>
            <a:off x="4690871" y="1325880"/>
            <a:ext cx="4069081" cy="347473"/>
          </a:xfrm>
          <a:prstGeom prst="rect">
            <a:avLst/>
          </a:prstGeom>
          <a:solidFill>
            <a:srgbClr val="B83030"/>
          </a:solidFill>
          <a:ln w="12700">
            <a:solidFill>
              <a:srgbClr val="B83030"/>
            </a:solidFill>
          </a:ln>
        </p:spPr>
        <p:txBody>
          <a:bodyPr lIns="45719" rIns="45719"/>
          <a:lstStyle/>
          <a:p>
            <a:endParaRPr/>
          </a:p>
        </p:txBody>
      </p:sp>
      <p:sp>
        <p:nvSpPr>
          <p:cNvPr id="304" name="Text 24"/>
          <p:cNvSpPr txBox="1"/>
          <p:nvPr/>
        </p:nvSpPr>
        <p:spPr>
          <a:xfrm>
            <a:off x="4736591" y="1386762"/>
            <a:ext cx="3977641" cy="225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100" b="1" spc="200">
                <a:solidFill>
                  <a:srgbClr val="FFFFFF"/>
                </a:solidFill>
              </a:defRPr>
            </a:lvl1pPr>
          </a:lstStyle>
          <a:p>
            <a:r>
              <a:t>LIMITATIONS</a:t>
            </a:r>
          </a:p>
        </p:txBody>
      </p:sp>
      <p:sp>
        <p:nvSpPr>
          <p:cNvPr id="305" name="Shape 25"/>
          <p:cNvSpPr/>
          <p:nvPr/>
        </p:nvSpPr>
        <p:spPr>
          <a:xfrm>
            <a:off x="4773167" y="1828799"/>
            <a:ext cx="182881" cy="182882"/>
          </a:xfrm>
          <a:prstGeom prst="ellipse">
            <a:avLst/>
          </a:prstGeom>
          <a:solidFill>
            <a:srgbClr val="B83030"/>
          </a:solidFill>
          <a:ln w="12700">
            <a:solidFill>
              <a:srgbClr val="B83030"/>
            </a:solidFill>
          </a:ln>
        </p:spPr>
        <p:txBody>
          <a:bodyPr lIns="45719" rIns="45719"/>
          <a:lstStyle/>
          <a:p>
            <a:endParaRPr/>
          </a:p>
        </p:txBody>
      </p:sp>
      <p:sp>
        <p:nvSpPr>
          <p:cNvPr id="306" name="Text 26"/>
          <p:cNvSpPr txBox="1"/>
          <p:nvPr/>
        </p:nvSpPr>
        <p:spPr>
          <a:xfrm>
            <a:off x="5074919" y="1787696"/>
            <a:ext cx="3474721"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a:solidFill>
                  <a:srgbClr val="1F3A6E"/>
                </a:solidFill>
              </a:defRPr>
            </a:lvl1pPr>
          </a:lstStyle>
          <a:p>
            <a:r>
              <a:t>Black-box nature</a:t>
            </a:r>
          </a:p>
        </p:txBody>
      </p:sp>
      <p:sp>
        <p:nvSpPr>
          <p:cNvPr id="307" name="Text 27"/>
          <p:cNvSpPr txBox="1"/>
          <p:nvPr/>
        </p:nvSpPr>
        <p:spPr>
          <a:xfrm>
            <a:off x="5074919" y="2032543"/>
            <a:ext cx="3474721" cy="1960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Cannot produce explicit equation; hard to interpret physically</a:t>
            </a:r>
          </a:p>
        </p:txBody>
      </p:sp>
      <p:sp>
        <p:nvSpPr>
          <p:cNvPr id="308" name="Shape 28"/>
          <p:cNvSpPr/>
          <p:nvPr/>
        </p:nvSpPr>
        <p:spPr>
          <a:xfrm>
            <a:off x="4773167" y="2395727"/>
            <a:ext cx="182881" cy="182881"/>
          </a:xfrm>
          <a:prstGeom prst="ellipse">
            <a:avLst/>
          </a:prstGeom>
          <a:solidFill>
            <a:srgbClr val="B83030"/>
          </a:solidFill>
          <a:ln w="12700">
            <a:solidFill>
              <a:srgbClr val="B83030"/>
            </a:solidFill>
          </a:ln>
        </p:spPr>
        <p:txBody>
          <a:bodyPr lIns="45719" rIns="45719"/>
          <a:lstStyle/>
          <a:p>
            <a:endParaRPr/>
          </a:p>
        </p:txBody>
      </p:sp>
      <p:sp>
        <p:nvSpPr>
          <p:cNvPr id="309" name="Text 29"/>
          <p:cNvSpPr txBox="1"/>
          <p:nvPr/>
        </p:nvSpPr>
        <p:spPr>
          <a:xfrm>
            <a:off x="5074919" y="2354624"/>
            <a:ext cx="3474721"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a:solidFill>
                  <a:srgbClr val="1F3A6E"/>
                </a:solidFill>
              </a:defRPr>
            </a:lvl1pPr>
          </a:lstStyle>
          <a:p>
            <a:r>
              <a:t>Data hungry</a:t>
            </a:r>
          </a:p>
        </p:txBody>
      </p:sp>
      <p:sp>
        <p:nvSpPr>
          <p:cNvPr id="310" name="Text 30"/>
          <p:cNvSpPr txBox="1"/>
          <p:nvPr/>
        </p:nvSpPr>
        <p:spPr>
          <a:xfrm>
            <a:off x="5074919" y="2599471"/>
            <a:ext cx="3474721" cy="1960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Needs 50–100+ training points; performance drops below this</a:t>
            </a:r>
          </a:p>
        </p:txBody>
      </p:sp>
      <p:sp>
        <p:nvSpPr>
          <p:cNvPr id="311" name="Shape 31"/>
          <p:cNvSpPr/>
          <p:nvPr/>
        </p:nvSpPr>
        <p:spPr>
          <a:xfrm>
            <a:off x="4773167" y="2962655"/>
            <a:ext cx="182881" cy="182881"/>
          </a:xfrm>
          <a:prstGeom prst="ellipse">
            <a:avLst/>
          </a:prstGeom>
          <a:solidFill>
            <a:srgbClr val="B83030"/>
          </a:solidFill>
          <a:ln w="12700">
            <a:solidFill>
              <a:srgbClr val="B83030"/>
            </a:solidFill>
          </a:ln>
        </p:spPr>
        <p:txBody>
          <a:bodyPr lIns="45719" rIns="45719"/>
          <a:lstStyle/>
          <a:p>
            <a:endParaRPr/>
          </a:p>
        </p:txBody>
      </p:sp>
      <p:sp>
        <p:nvSpPr>
          <p:cNvPr id="312" name="Text 32"/>
          <p:cNvSpPr txBox="1"/>
          <p:nvPr/>
        </p:nvSpPr>
        <p:spPr>
          <a:xfrm>
            <a:off x="5074919" y="2921552"/>
            <a:ext cx="3474721"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a:solidFill>
                  <a:srgbClr val="1F3A6E"/>
                </a:solidFill>
              </a:defRPr>
            </a:lvl1pPr>
          </a:lstStyle>
          <a:p>
            <a:r>
              <a:t>Overfitting risk</a:t>
            </a:r>
          </a:p>
        </p:txBody>
      </p:sp>
      <p:sp>
        <p:nvSpPr>
          <p:cNvPr id="313" name="Text 33"/>
          <p:cNvSpPr txBox="1"/>
          <p:nvPr/>
        </p:nvSpPr>
        <p:spPr>
          <a:xfrm>
            <a:off x="5074919" y="3166399"/>
            <a:ext cx="3474721" cy="1960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Without regularisation, may memorise training data</a:t>
            </a:r>
          </a:p>
        </p:txBody>
      </p:sp>
      <p:sp>
        <p:nvSpPr>
          <p:cNvPr id="314" name="Shape 34"/>
          <p:cNvSpPr/>
          <p:nvPr/>
        </p:nvSpPr>
        <p:spPr>
          <a:xfrm>
            <a:off x="4773167" y="3529584"/>
            <a:ext cx="182881" cy="182881"/>
          </a:xfrm>
          <a:prstGeom prst="ellipse">
            <a:avLst/>
          </a:prstGeom>
          <a:solidFill>
            <a:srgbClr val="B83030"/>
          </a:solidFill>
          <a:ln w="12700">
            <a:solidFill>
              <a:srgbClr val="B83030"/>
            </a:solidFill>
          </a:ln>
        </p:spPr>
        <p:txBody>
          <a:bodyPr lIns="45719" rIns="45719"/>
          <a:lstStyle/>
          <a:p>
            <a:endParaRPr/>
          </a:p>
        </p:txBody>
      </p:sp>
      <p:sp>
        <p:nvSpPr>
          <p:cNvPr id="315" name="Text 35"/>
          <p:cNvSpPr txBox="1"/>
          <p:nvPr/>
        </p:nvSpPr>
        <p:spPr>
          <a:xfrm>
            <a:off x="5074919" y="3488480"/>
            <a:ext cx="3474721"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a:solidFill>
                  <a:srgbClr val="1F3A6E"/>
                </a:solidFill>
              </a:defRPr>
            </a:lvl1pPr>
          </a:lstStyle>
          <a:p>
            <a:r>
              <a:t>No extrapolation</a:t>
            </a:r>
          </a:p>
        </p:txBody>
      </p:sp>
      <p:sp>
        <p:nvSpPr>
          <p:cNvPr id="316" name="Text 36"/>
          <p:cNvSpPr txBox="1"/>
          <p:nvPr/>
        </p:nvSpPr>
        <p:spPr>
          <a:xfrm>
            <a:off x="5074919" y="3733327"/>
            <a:ext cx="3474721" cy="1960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Only reliable within training data range; fails outside</a:t>
            </a:r>
          </a:p>
        </p:txBody>
      </p:sp>
      <p:sp>
        <p:nvSpPr>
          <p:cNvPr id="317" name="Shape 37"/>
          <p:cNvSpPr/>
          <p:nvPr/>
        </p:nvSpPr>
        <p:spPr>
          <a:xfrm>
            <a:off x="4773167" y="4096511"/>
            <a:ext cx="182881" cy="182881"/>
          </a:xfrm>
          <a:prstGeom prst="ellipse">
            <a:avLst/>
          </a:prstGeom>
          <a:solidFill>
            <a:srgbClr val="B83030"/>
          </a:solidFill>
          <a:ln w="12700">
            <a:solidFill>
              <a:srgbClr val="B83030"/>
            </a:solidFill>
          </a:ln>
        </p:spPr>
        <p:txBody>
          <a:bodyPr lIns="45719" rIns="45719"/>
          <a:lstStyle/>
          <a:p>
            <a:endParaRPr/>
          </a:p>
        </p:txBody>
      </p:sp>
      <p:sp>
        <p:nvSpPr>
          <p:cNvPr id="318" name="Text 38"/>
          <p:cNvSpPr txBox="1"/>
          <p:nvPr/>
        </p:nvSpPr>
        <p:spPr>
          <a:xfrm>
            <a:off x="5074919" y="4055408"/>
            <a:ext cx="3474721"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a:solidFill>
                  <a:srgbClr val="1F3A6E"/>
                </a:solidFill>
              </a:defRPr>
            </a:lvl1pPr>
          </a:lstStyle>
          <a:p>
            <a:r>
              <a:t>Architecture tuning</a:t>
            </a:r>
          </a:p>
        </p:txBody>
      </p:sp>
      <p:sp>
        <p:nvSpPr>
          <p:cNvPr id="319" name="Text 39"/>
          <p:cNvSpPr txBox="1"/>
          <p:nvPr/>
        </p:nvSpPr>
        <p:spPr>
          <a:xfrm>
            <a:off x="5074919" y="4300255"/>
            <a:ext cx="3474721" cy="1960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8A9BBB"/>
                </a:solidFill>
              </a:defRPr>
            </a:lvl1pPr>
          </a:lstStyle>
          <a:p>
            <a:r>
              <a:t>Optimal layers/neurons must be found by trial and error</a:t>
            </a:r>
          </a:p>
        </p:txBody>
      </p:sp>
      <p:sp>
        <p:nvSpPr>
          <p:cNvPr id="320" name="Shape 40"/>
          <p:cNvSpPr/>
          <p:nvPr/>
        </p:nvSpPr>
        <p:spPr>
          <a:xfrm flipH="1">
            <a:off x="4553711" y="1325880"/>
            <a:ext cx="1" cy="3401569"/>
          </a:xfrm>
          <a:prstGeom prst="line">
            <a:avLst/>
          </a:prstGeom>
          <a:ln w="12700">
            <a:solidFill>
              <a:srgbClr val="D0D9EE"/>
            </a:solidFill>
          </a:ln>
        </p:spPr>
        <p:txBody>
          <a:bodyPr lIns="45719" rIns="45719"/>
          <a:lstStyle/>
          <a:p>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Shape 0"/>
          <p:cNvSpPr/>
          <p:nvPr/>
        </p:nvSpPr>
        <p:spPr>
          <a:xfrm>
            <a:off x="0" y="0"/>
            <a:ext cx="9144000" cy="64008"/>
          </a:xfrm>
          <a:prstGeom prst="rect">
            <a:avLst/>
          </a:prstGeom>
          <a:solidFill>
            <a:srgbClr val="1F3A6E"/>
          </a:solidFill>
          <a:ln w="12700">
            <a:solidFill>
              <a:srgbClr val="1F3A6E"/>
            </a:solidFill>
          </a:ln>
        </p:spPr>
        <p:txBody>
          <a:bodyPr lIns="45719" rIns="45719"/>
          <a:lstStyle/>
          <a:p>
            <a:endParaRPr/>
          </a:p>
        </p:txBody>
      </p:sp>
      <p:sp>
        <p:nvSpPr>
          <p:cNvPr id="323" name="Shape 1"/>
          <p:cNvSpPr/>
          <p:nvPr/>
        </p:nvSpPr>
        <p:spPr>
          <a:xfrm>
            <a:off x="0" y="5074920"/>
            <a:ext cx="9144000" cy="68581"/>
          </a:xfrm>
          <a:prstGeom prst="rect">
            <a:avLst/>
          </a:prstGeom>
          <a:solidFill>
            <a:srgbClr val="1F3A6E"/>
          </a:solidFill>
          <a:ln w="12700">
            <a:solidFill>
              <a:srgbClr val="1F3A6E"/>
            </a:solidFill>
          </a:ln>
        </p:spPr>
        <p:txBody>
          <a:bodyPr lIns="45719" rIns="45719"/>
          <a:lstStyle/>
          <a:p>
            <a:endParaRPr/>
          </a:p>
        </p:txBody>
      </p:sp>
      <p:sp>
        <p:nvSpPr>
          <p:cNvPr id="324" name="Text 2"/>
          <p:cNvSpPr txBox="1"/>
          <p:nvPr/>
        </p:nvSpPr>
        <p:spPr>
          <a:xfrm>
            <a:off x="45719" y="4894616"/>
            <a:ext cx="9052561" cy="1960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a:solidFill>
                  <a:srgbClr val="8A9BBB"/>
                </a:solidFill>
              </a:defRPr>
            </a:lvl1pPr>
          </a:lstStyle>
          <a:p>
            <a:r>
              <a:t>AI Minor Course  |  Department of Chemical Engineering  |  2025–2026</a:t>
            </a:r>
          </a:p>
        </p:txBody>
      </p:sp>
      <p:sp>
        <p:nvSpPr>
          <p:cNvPr id="325" name="Shape 3"/>
          <p:cNvSpPr/>
          <p:nvPr/>
        </p:nvSpPr>
        <p:spPr>
          <a:xfrm>
            <a:off x="384047" y="164592"/>
            <a:ext cx="1924813" cy="256032"/>
          </a:xfrm>
          <a:prstGeom prst="roundRect">
            <a:avLst>
              <a:gd name="adj" fmla="val 21429"/>
            </a:avLst>
          </a:prstGeom>
          <a:solidFill>
            <a:srgbClr val="D6E4F7"/>
          </a:solidFill>
          <a:ln w="12700">
            <a:solidFill>
              <a:srgbClr val="2E6DB4"/>
            </a:solidFill>
          </a:ln>
        </p:spPr>
        <p:txBody>
          <a:bodyPr lIns="45719" rIns="45719"/>
          <a:lstStyle/>
          <a:p>
            <a:endParaRPr/>
          </a:p>
        </p:txBody>
      </p:sp>
      <p:sp>
        <p:nvSpPr>
          <p:cNvPr id="326" name="Text 4"/>
          <p:cNvSpPr txBox="1"/>
          <p:nvPr/>
        </p:nvSpPr>
        <p:spPr>
          <a:xfrm>
            <a:off x="429768" y="194599"/>
            <a:ext cx="1833373"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b="1">
                <a:solidFill>
                  <a:srgbClr val="2E6DB4"/>
                </a:solidFill>
              </a:defRPr>
            </a:lvl1pPr>
          </a:lstStyle>
          <a:p>
            <a:r>
              <a:t>PHASE 2</a:t>
            </a:r>
          </a:p>
        </p:txBody>
      </p:sp>
      <p:sp>
        <p:nvSpPr>
          <p:cNvPr id="327" name="Text 5"/>
          <p:cNvSpPr txBox="1"/>
          <p:nvPr/>
        </p:nvSpPr>
        <p:spPr>
          <a:xfrm>
            <a:off x="384047" y="690996"/>
            <a:ext cx="8375906" cy="3462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600" b="1">
                <a:solidFill>
                  <a:srgbClr val="1F3A6E"/>
                </a:solidFill>
              </a:defRPr>
            </a:lvl1pPr>
          </a:lstStyle>
          <a:p>
            <a:r>
              <a:t>Future Directions</a:t>
            </a:r>
          </a:p>
        </p:txBody>
      </p:sp>
      <p:sp>
        <p:nvSpPr>
          <p:cNvPr id="328" name="Shape 8"/>
          <p:cNvSpPr/>
          <p:nvPr/>
        </p:nvSpPr>
        <p:spPr>
          <a:xfrm>
            <a:off x="390995" y="1238903"/>
            <a:ext cx="7993633" cy="743332"/>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329" name="Text 10"/>
          <p:cNvSpPr txBox="1"/>
          <p:nvPr/>
        </p:nvSpPr>
        <p:spPr>
          <a:xfrm>
            <a:off x="638038" y="1283353"/>
            <a:ext cx="3108961" cy="2582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300" b="1">
                <a:solidFill>
                  <a:srgbClr val="1F3A6E"/>
                </a:solidFill>
              </a:defRPr>
            </a:lvl1pPr>
          </a:lstStyle>
          <a:p>
            <a:r>
              <a:t>Physics-Informed ANN</a:t>
            </a:r>
          </a:p>
        </p:txBody>
      </p:sp>
      <p:sp>
        <p:nvSpPr>
          <p:cNvPr id="330" name="Text 11"/>
          <p:cNvSpPr txBox="1"/>
          <p:nvPr/>
        </p:nvSpPr>
        <p:spPr>
          <a:xfrm>
            <a:off x="631186" y="1538753"/>
            <a:ext cx="4850432" cy="3908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a:solidFill>
                  <a:srgbClr val="8A9BBB"/>
                </a:solidFill>
              </a:defRPr>
            </a:lvl1pPr>
          </a:lstStyle>
          <a:p>
            <a:r>
              <a:t>Combine thermodynamic laws (mass transfer, phase equilibrium) with ML, consistent predictions and better generalisations than ANN with less data</a:t>
            </a:r>
          </a:p>
        </p:txBody>
      </p:sp>
      <p:sp>
        <p:nvSpPr>
          <p:cNvPr id="331" name="Shape 8"/>
          <p:cNvSpPr/>
          <p:nvPr/>
        </p:nvSpPr>
        <p:spPr>
          <a:xfrm>
            <a:off x="390995" y="2216236"/>
            <a:ext cx="7993633" cy="743332"/>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332" name="Text 10"/>
          <p:cNvSpPr txBox="1"/>
          <p:nvPr/>
        </p:nvSpPr>
        <p:spPr>
          <a:xfrm>
            <a:off x="638038" y="2260686"/>
            <a:ext cx="3108961" cy="2582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300" b="1">
                <a:solidFill>
                  <a:srgbClr val="1F3A6E"/>
                </a:solidFill>
              </a:defRPr>
            </a:lvl1pPr>
          </a:lstStyle>
          <a:p>
            <a:r>
              <a:t>Reinforcement Learning</a:t>
            </a:r>
          </a:p>
        </p:txBody>
      </p:sp>
      <p:sp>
        <p:nvSpPr>
          <p:cNvPr id="333" name="Text 11"/>
          <p:cNvSpPr txBox="1"/>
          <p:nvPr/>
        </p:nvSpPr>
        <p:spPr>
          <a:xfrm>
            <a:off x="631186" y="2516086"/>
            <a:ext cx="4850432" cy="3908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a:solidFill>
                  <a:srgbClr val="8A9BBB"/>
                </a:solidFill>
              </a:defRPr>
            </a:lvl1pPr>
          </a:lstStyle>
          <a:p>
            <a:r>
              <a:t>Learns optimal operating policies dynamically, Suitable for real-time process control and optimization.</a:t>
            </a:r>
          </a:p>
        </p:txBody>
      </p:sp>
      <p:sp>
        <p:nvSpPr>
          <p:cNvPr id="334" name="Shape 8"/>
          <p:cNvSpPr/>
          <p:nvPr/>
        </p:nvSpPr>
        <p:spPr>
          <a:xfrm>
            <a:off x="390995" y="3252592"/>
            <a:ext cx="7993633" cy="743333"/>
          </a:xfrm>
          <a:prstGeom prst="rect">
            <a:avLst/>
          </a:prstGeom>
          <a:solidFill>
            <a:srgbClr val="F4F6FB"/>
          </a:solidFill>
          <a:ln w="12700">
            <a:solidFill>
              <a:srgbClr val="D0D9EE"/>
            </a:solidFill>
          </a:ln>
          <a:effectLst>
            <a:outerShdw blurRad="63500" dist="25400" dir="8100000" rotWithShape="0">
              <a:srgbClr val="000000">
                <a:alpha val="7000"/>
              </a:srgbClr>
            </a:outerShdw>
          </a:effectLst>
        </p:spPr>
        <p:txBody>
          <a:bodyPr lIns="45719" rIns="45719"/>
          <a:lstStyle/>
          <a:p>
            <a:endParaRPr/>
          </a:p>
        </p:txBody>
      </p:sp>
      <p:sp>
        <p:nvSpPr>
          <p:cNvPr id="335" name="Text 10"/>
          <p:cNvSpPr txBox="1"/>
          <p:nvPr/>
        </p:nvSpPr>
        <p:spPr>
          <a:xfrm>
            <a:off x="638038" y="3297042"/>
            <a:ext cx="3108961" cy="2582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300" b="1">
                <a:solidFill>
                  <a:srgbClr val="1F3A6E"/>
                </a:solidFill>
              </a:defRPr>
            </a:lvl1pPr>
          </a:lstStyle>
          <a:p>
            <a:r>
              <a:t>Digital Twins</a:t>
            </a:r>
          </a:p>
        </p:txBody>
      </p:sp>
      <p:sp>
        <p:nvSpPr>
          <p:cNvPr id="336" name="Text 11"/>
          <p:cNvSpPr txBox="1"/>
          <p:nvPr/>
        </p:nvSpPr>
        <p:spPr>
          <a:xfrm>
            <a:off x="631186" y="3552443"/>
            <a:ext cx="4850432" cy="3908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a:solidFill>
                  <a:srgbClr val="8A9BBB"/>
                </a:solidFill>
              </a:defRPr>
            </a:lvl1pPr>
          </a:lstStyle>
          <a:p>
            <a:r>
              <a:t>Virtual replica of extraction process, Enables real-time monitoring and predictive optimization, Combines simulation + AI + process data</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986</Words>
  <Application>Microsoft Office PowerPoint</Application>
  <PresentationFormat>On-screen Show (16:9)</PresentationFormat>
  <Paragraphs>198</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10A59 Aditya Kulkarni</cp:lastModifiedBy>
  <cp:revision>1</cp:revision>
  <dcterms:modified xsi:type="dcterms:W3CDTF">2026-03-18T16:13:50Z</dcterms:modified>
</cp:coreProperties>
</file>